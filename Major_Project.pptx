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042"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rgbClr val="780373"/>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780373"/>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780373"/>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780373"/>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4596" y="634365"/>
            <a:ext cx="3992879" cy="574040"/>
          </a:xfrm>
          <a:prstGeom prst="rect">
            <a:avLst/>
          </a:prstGeom>
        </p:spPr>
        <p:txBody>
          <a:bodyPr wrap="square" lIns="0" tIns="0" rIns="0" bIns="0">
            <a:spAutoFit/>
          </a:bodyPr>
          <a:lstStyle>
            <a:lvl1pPr>
              <a:defRPr sz="3600" b="1" i="0">
                <a:solidFill>
                  <a:srgbClr val="780373"/>
                </a:solidFill>
                <a:latin typeface="Times New Roman"/>
                <a:cs typeface="Times New Roman"/>
              </a:defRPr>
            </a:lvl1pPr>
          </a:lstStyle>
          <a:p>
            <a:endParaRPr/>
          </a:p>
        </p:txBody>
      </p:sp>
      <p:sp>
        <p:nvSpPr>
          <p:cNvPr id="3" name="Holder 3"/>
          <p:cNvSpPr>
            <a:spLocks noGrp="1"/>
          </p:cNvSpPr>
          <p:nvPr>
            <p:ph type="body" idx="1"/>
          </p:nvPr>
        </p:nvSpPr>
        <p:spPr>
          <a:xfrm>
            <a:off x="3353561" y="1612138"/>
            <a:ext cx="8242300" cy="2477135"/>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9/26/2026</a:t>
            </a:fld>
            <a:endParaRPr lang="en-US"/>
          </a:p>
        </p:txBody>
      </p:sp>
      <p:sp>
        <p:nvSpPr>
          <p:cNvPr id="6" name="Holder 6"/>
          <p:cNvSpPr>
            <a:spLocks noGrp="1"/>
          </p:cNvSpPr>
          <p:nvPr>
            <p:ph type="sldNum" sz="quarter" idx="7"/>
          </p:nvPr>
        </p:nvSpPr>
        <p:spPr>
          <a:xfrm>
            <a:off x="11323066" y="6464071"/>
            <a:ext cx="29527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762114" y="213779"/>
            <a:ext cx="725043" cy="555840"/>
          </a:xfrm>
          <a:prstGeom prst="rect">
            <a:avLst/>
          </a:prstGeom>
        </p:spPr>
      </p:pic>
      <p:sp>
        <p:nvSpPr>
          <p:cNvPr id="2" name="object 2" descr="$PPTXTitle"/>
          <p:cNvSpPr txBox="1">
            <a:spLocks noGrp="1"/>
          </p:cNvSpPr>
          <p:nvPr>
            <p:ph type="title"/>
          </p:nvPr>
        </p:nvSpPr>
        <p:spPr>
          <a:xfrm>
            <a:off x="1615186" y="200406"/>
            <a:ext cx="9288780" cy="513715"/>
          </a:xfrm>
          <a:prstGeom prst="rect">
            <a:avLst/>
          </a:prstGeom>
        </p:spPr>
        <p:txBody>
          <a:bodyPr vert="horz" wrap="square" lIns="0" tIns="12700" rIns="0" bIns="0" rtlCol="0">
            <a:spAutoFit/>
          </a:bodyPr>
          <a:lstStyle/>
          <a:p>
            <a:pPr marL="12700">
              <a:lnSpc>
                <a:spcPct val="100000"/>
              </a:lnSpc>
              <a:spcBef>
                <a:spcPts val="100"/>
              </a:spcBef>
            </a:pPr>
            <a:r>
              <a:rPr sz="3200" spc="-70" dirty="0">
                <a:solidFill>
                  <a:srgbClr val="000000"/>
                </a:solidFill>
              </a:rPr>
              <a:t>KESHAV</a:t>
            </a:r>
            <a:r>
              <a:rPr sz="3200" spc="-100" dirty="0">
                <a:solidFill>
                  <a:srgbClr val="000000"/>
                </a:solidFill>
              </a:rPr>
              <a:t> </a:t>
            </a:r>
            <a:r>
              <a:rPr sz="3200" dirty="0">
                <a:solidFill>
                  <a:srgbClr val="000000"/>
                </a:solidFill>
              </a:rPr>
              <a:t>MEMORIAL</a:t>
            </a:r>
            <a:r>
              <a:rPr sz="3200" spc="-185" dirty="0">
                <a:solidFill>
                  <a:srgbClr val="000000"/>
                </a:solidFill>
              </a:rPr>
              <a:t> </a:t>
            </a:r>
            <a:r>
              <a:rPr sz="3200" dirty="0">
                <a:solidFill>
                  <a:srgbClr val="000000"/>
                </a:solidFill>
              </a:rPr>
              <a:t>ENGINEERING</a:t>
            </a:r>
            <a:r>
              <a:rPr sz="3200" spc="-35" dirty="0">
                <a:solidFill>
                  <a:srgbClr val="000000"/>
                </a:solidFill>
              </a:rPr>
              <a:t> </a:t>
            </a:r>
            <a:r>
              <a:rPr sz="3200" spc="-10" dirty="0">
                <a:solidFill>
                  <a:srgbClr val="000000"/>
                </a:solidFill>
              </a:rPr>
              <a:t>COLLEGE</a:t>
            </a:r>
            <a:endParaRPr sz="3200"/>
          </a:p>
        </p:txBody>
      </p:sp>
      <p:sp>
        <p:nvSpPr>
          <p:cNvPr id="3" name="object 3"/>
          <p:cNvSpPr txBox="1"/>
          <p:nvPr/>
        </p:nvSpPr>
        <p:spPr>
          <a:xfrm>
            <a:off x="2531110" y="703326"/>
            <a:ext cx="7428230" cy="576580"/>
          </a:xfrm>
          <a:prstGeom prst="rect">
            <a:avLst/>
          </a:prstGeom>
        </p:spPr>
        <p:txBody>
          <a:bodyPr vert="horz" wrap="square" lIns="0" tIns="13335" rIns="0" bIns="0" rtlCol="0">
            <a:spAutoFit/>
          </a:bodyPr>
          <a:lstStyle/>
          <a:p>
            <a:pPr algn="ctr">
              <a:lnSpc>
                <a:spcPct val="100000"/>
              </a:lnSpc>
              <a:spcBef>
                <a:spcPts val="105"/>
              </a:spcBef>
            </a:pPr>
            <a:r>
              <a:rPr sz="2000" b="1" dirty="0">
                <a:latin typeface="Times New Roman"/>
                <a:cs typeface="Times New Roman"/>
              </a:rPr>
              <a:t>A</a:t>
            </a:r>
            <a:r>
              <a:rPr sz="2000" b="1" spc="-114" dirty="0">
                <a:latin typeface="Times New Roman"/>
                <a:cs typeface="Times New Roman"/>
              </a:rPr>
              <a:t> </a:t>
            </a:r>
            <a:r>
              <a:rPr sz="2000" b="1" dirty="0">
                <a:latin typeface="Times New Roman"/>
                <a:cs typeface="Times New Roman"/>
              </a:rPr>
              <a:t>unit</a:t>
            </a:r>
            <a:r>
              <a:rPr sz="2000" b="1" spc="-25" dirty="0">
                <a:latin typeface="Times New Roman"/>
                <a:cs typeface="Times New Roman"/>
              </a:rPr>
              <a:t> </a:t>
            </a:r>
            <a:r>
              <a:rPr sz="2000" b="1" dirty="0">
                <a:latin typeface="Times New Roman"/>
                <a:cs typeface="Times New Roman"/>
              </a:rPr>
              <a:t>of</a:t>
            </a:r>
            <a:r>
              <a:rPr sz="2000" b="1" spc="-5" dirty="0">
                <a:latin typeface="Times New Roman"/>
                <a:cs typeface="Times New Roman"/>
              </a:rPr>
              <a:t> </a:t>
            </a:r>
            <a:r>
              <a:rPr sz="2000" b="1" dirty="0">
                <a:latin typeface="Times New Roman"/>
                <a:cs typeface="Times New Roman"/>
              </a:rPr>
              <a:t>Keshav</a:t>
            </a:r>
            <a:r>
              <a:rPr sz="2000" b="1" spc="-40" dirty="0">
                <a:latin typeface="Times New Roman"/>
                <a:cs typeface="Times New Roman"/>
              </a:rPr>
              <a:t> </a:t>
            </a:r>
            <a:r>
              <a:rPr sz="2000" b="1" dirty="0">
                <a:latin typeface="Times New Roman"/>
                <a:cs typeface="Times New Roman"/>
              </a:rPr>
              <a:t>Memorial</a:t>
            </a:r>
            <a:r>
              <a:rPr sz="2000" b="1" spc="-80" dirty="0">
                <a:latin typeface="Times New Roman"/>
                <a:cs typeface="Times New Roman"/>
              </a:rPr>
              <a:t> </a:t>
            </a:r>
            <a:r>
              <a:rPr sz="2000" b="1" spc="-20" dirty="0">
                <a:latin typeface="Times New Roman"/>
                <a:cs typeface="Times New Roman"/>
              </a:rPr>
              <a:t>Technical</a:t>
            </a:r>
            <a:r>
              <a:rPr sz="2000" b="1" spc="-25" dirty="0">
                <a:latin typeface="Times New Roman"/>
                <a:cs typeface="Times New Roman"/>
              </a:rPr>
              <a:t> </a:t>
            </a:r>
            <a:r>
              <a:rPr sz="2000" b="1" dirty="0">
                <a:latin typeface="Times New Roman"/>
                <a:cs typeface="Times New Roman"/>
              </a:rPr>
              <a:t>Educational</a:t>
            </a:r>
            <a:r>
              <a:rPr sz="2000" b="1" spc="-50" dirty="0">
                <a:latin typeface="Times New Roman"/>
                <a:cs typeface="Times New Roman"/>
              </a:rPr>
              <a:t> </a:t>
            </a:r>
            <a:r>
              <a:rPr sz="2000" b="1" dirty="0">
                <a:latin typeface="Times New Roman"/>
                <a:cs typeface="Times New Roman"/>
              </a:rPr>
              <a:t>Society</a:t>
            </a:r>
            <a:r>
              <a:rPr sz="2000" b="1" spc="-35" dirty="0">
                <a:latin typeface="Times New Roman"/>
                <a:cs typeface="Times New Roman"/>
              </a:rPr>
              <a:t> </a:t>
            </a:r>
            <a:r>
              <a:rPr sz="2000" b="1" spc="-10" dirty="0">
                <a:latin typeface="Times New Roman"/>
                <a:cs typeface="Times New Roman"/>
              </a:rPr>
              <a:t>(KMTES)</a:t>
            </a:r>
            <a:endParaRPr sz="2000">
              <a:latin typeface="Times New Roman"/>
              <a:cs typeface="Times New Roman"/>
            </a:endParaRPr>
          </a:p>
          <a:p>
            <a:pPr marL="38735" algn="ctr">
              <a:lnSpc>
                <a:spcPct val="100000"/>
              </a:lnSpc>
              <a:spcBef>
                <a:spcPts val="15"/>
              </a:spcBef>
            </a:pPr>
            <a:r>
              <a:rPr sz="1600" b="1" dirty="0">
                <a:latin typeface="Times New Roman"/>
                <a:cs typeface="Times New Roman"/>
              </a:rPr>
              <a:t>(Approved</a:t>
            </a:r>
            <a:r>
              <a:rPr sz="1600" b="1" spc="-75" dirty="0">
                <a:latin typeface="Times New Roman"/>
                <a:cs typeface="Times New Roman"/>
              </a:rPr>
              <a:t> </a:t>
            </a:r>
            <a:r>
              <a:rPr sz="1600" b="1" spc="-10" dirty="0">
                <a:latin typeface="Times New Roman"/>
                <a:cs typeface="Times New Roman"/>
              </a:rPr>
              <a:t>by</a:t>
            </a:r>
            <a:r>
              <a:rPr sz="1600" b="1" spc="-90" dirty="0">
                <a:latin typeface="Times New Roman"/>
                <a:cs typeface="Times New Roman"/>
              </a:rPr>
              <a:t> </a:t>
            </a:r>
            <a:r>
              <a:rPr sz="1600" b="1" dirty="0">
                <a:latin typeface="Times New Roman"/>
                <a:cs typeface="Times New Roman"/>
              </a:rPr>
              <a:t>AICTE,</a:t>
            </a:r>
            <a:r>
              <a:rPr sz="1600" b="1" spc="-50" dirty="0">
                <a:latin typeface="Times New Roman"/>
                <a:cs typeface="Times New Roman"/>
              </a:rPr>
              <a:t> </a:t>
            </a:r>
            <a:r>
              <a:rPr sz="1600" b="1" dirty="0">
                <a:latin typeface="Times New Roman"/>
                <a:cs typeface="Times New Roman"/>
              </a:rPr>
              <a:t>New</a:t>
            </a:r>
            <a:r>
              <a:rPr sz="1600" b="1" spc="-40" dirty="0">
                <a:latin typeface="Times New Roman"/>
                <a:cs typeface="Times New Roman"/>
              </a:rPr>
              <a:t> </a:t>
            </a:r>
            <a:r>
              <a:rPr sz="1600" b="1" dirty="0">
                <a:latin typeface="Times New Roman"/>
                <a:cs typeface="Times New Roman"/>
              </a:rPr>
              <a:t>Delhi</a:t>
            </a:r>
            <a:r>
              <a:rPr sz="1600" b="1" spc="-35" dirty="0">
                <a:latin typeface="Times New Roman"/>
                <a:cs typeface="Times New Roman"/>
              </a:rPr>
              <a:t> </a:t>
            </a:r>
            <a:r>
              <a:rPr sz="1600" b="1" dirty="0">
                <a:latin typeface="Times New Roman"/>
                <a:cs typeface="Times New Roman"/>
              </a:rPr>
              <a:t>&amp;</a:t>
            </a:r>
            <a:r>
              <a:rPr sz="1600" b="1" spc="-100" dirty="0">
                <a:latin typeface="Times New Roman"/>
                <a:cs typeface="Times New Roman"/>
              </a:rPr>
              <a:t> </a:t>
            </a:r>
            <a:r>
              <a:rPr sz="1600" b="1" dirty="0">
                <a:latin typeface="Times New Roman"/>
                <a:cs typeface="Times New Roman"/>
              </a:rPr>
              <a:t>Affiliated</a:t>
            </a:r>
            <a:r>
              <a:rPr sz="1600" b="1" spc="-5" dirty="0">
                <a:latin typeface="Times New Roman"/>
                <a:cs typeface="Times New Roman"/>
              </a:rPr>
              <a:t> </a:t>
            </a:r>
            <a:r>
              <a:rPr sz="1600" b="1" dirty="0">
                <a:latin typeface="Times New Roman"/>
                <a:cs typeface="Times New Roman"/>
              </a:rPr>
              <a:t>to</a:t>
            </a:r>
            <a:r>
              <a:rPr sz="1600" b="1" spc="-30" dirty="0">
                <a:latin typeface="Times New Roman"/>
                <a:cs typeface="Times New Roman"/>
              </a:rPr>
              <a:t> </a:t>
            </a:r>
            <a:r>
              <a:rPr sz="1600" b="1" dirty="0">
                <a:latin typeface="Times New Roman"/>
                <a:cs typeface="Times New Roman"/>
              </a:rPr>
              <a:t>Osmania</a:t>
            </a:r>
            <a:r>
              <a:rPr sz="1600" b="1" spc="5" dirty="0">
                <a:latin typeface="Times New Roman"/>
                <a:cs typeface="Times New Roman"/>
              </a:rPr>
              <a:t> </a:t>
            </a:r>
            <a:r>
              <a:rPr sz="1600" b="1" spc="-10" dirty="0">
                <a:latin typeface="Times New Roman"/>
                <a:cs typeface="Times New Roman"/>
              </a:rPr>
              <a:t>University,</a:t>
            </a:r>
            <a:r>
              <a:rPr sz="1600" b="1" spc="-25" dirty="0">
                <a:latin typeface="Times New Roman"/>
                <a:cs typeface="Times New Roman"/>
              </a:rPr>
              <a:t> </a:t>
            </a:r>
            <a:r>
              <a:rPr sz="1600" b="1" spc="-10" dirty="0">
                <a:latin typeface="Times New Roman"/>
                <a:cs typeface="Times New Roman"/>
              </a:rPr>
              <a:t>Hyderabad)</a:t>
            </a:r>
            <a:endParaRPr sz="1600">
              <a:latin typeface="Times New Roman"/>
              <a:cs typeface="Times New Roman"/>
            </a:endParaRPr>
          </a:p>
        </p:txBody>
      </p:sp>
      <p:sp>
        <p:nvSpPr>
          <p:cNvPr id="8" name="object 8"/>
          <p:cNvSpPr/>
          <p:nvPr/>
        </p:nvSpPr>
        <p:spPr>
          <a:xfrm>
            <a:off x="152285" y="1440052"/>
            <a:ext cx="11887200" cy="635"/>
          </a:xfrm>
          <a:custGeom>
            <a:avLst/>
            <a:gdLst/>
            <a:ahLst/>
            <a:cxnLst/>
            <a:rect l="l" t="t" r="r" b="b"/>
            <a:pathLst>
              <a:path w="11887200" h="634">
                <a:moveTo>
                  <a:pt x="0" y="0"/>
                </a:moveTo>
                <a:lnTo>
                  <a:pt x="11887187" y="254"/>
                </a:lnTo>
              </a:path>
            </a:pathLst>
          </a:custGeom>
          <a:ln w="3175">
            <a:solidFill>
              <a:srgbClr val="3464A3"/>
            </a:solidFill>
          </a:ln>
        </p:spPr>
        <p:txBody>
          <a:bodyPr wrap="square" lIns="0" tIns="0" rIns="0" bIns="0" rtlCol="0"/>
          <a:lstStyle/>
          <a:p>
            <a:endParaRPr/>
          </a:p>
        </p:txBody>
      </p:sp>
      <p:sp>
        <p:nvSpPr>
          <p:cNvPr id="4" name="object 4"/>
          <p:cNvSpPr txBox="1"/>
          <p:nvPr/>
        </p:nvSpPr>
        <p:spPr>
          <a:xfrm>
            <a:off x="1019867" y="1576414"/>
            <a:ext cx="10479418" cy="2225609"/>
          </a:xfrm>
          <a:prstGeom prst="rect">
            <a:avLst/>
          </a:prstGeom>
        </p:spPr>
        <p:txBody>
          <a:bodyPr vert="horz" wrap="square" lIns="0" tIns="12065" rIns="0" bIns="0" rtlCol="0">
            <a:spAutoFit/>
          </a:bodyPr>
          <a:lstStyle/>
          <a:p>
            <a:pPr algn="ctr">
              <a:lnSpc>
                <a:spcPct val="100000"/>
              </a:lnSpc>
              <a:spcBef>
                <a:spcPts val="95"/>
              </a:spcBef>
            </a:pPr>
            <a:r>
              <a:rPr sz="2800" b="1" spc="-40" dirty="0">
                <a:solidFill>
                  <a:srgbClr val="780373"/>
                </a:solidFill>
                <a:latin typeface="Times New Roman"/>
                <a:cs typeface="Times New Roman"/>
              </a:rPr>
              <a:t>DEPARTMENT</a:t>
            </a:r>
            <a:r>
              <a:rPr sz="2800" b="1" spc="-110" dirty="0">
                <a:solidFill>
                  <a:srgbClr val="780373"/>
                </a:solidFill>
                <a:latin typeface="Times New Roman"/>
                <a:cs typeface="Times New Roman"/>
              </a:rPr>
              <a:t> </a:t>
            </a:r>
            <a:r>
              <a:rPr sz="2800" b="1" dirty="0">
                <a:solidFill>
                  <a:srgbClr val="780373"/>
                </a:solidFill>
                <a:latin typeface="Times New Roman"/>
                <a:cs typeface="Times New Roman"/>
              </a:rPr>
              <a:t>OF</a:t>
            </a:r>
            <a:r>
              <a:rPr sz="2800" b="1" spc="-175" dirty="0">
                <a:solidFill>
                  <a:srgbClr val="780373"/>
                </a:solidFill>
                <a:latin typeface="Times New Roman"/>
                <a:cs typeface="Times New Roman"/>
              </a:rPr>
              <a:t> </a:t>
            </a:r>
            <a:r>
              <a:rPr sz="2800" b="1" dirty="0">
                <a:solidFill>
                  <a:srgbClr val="780373"/>
                </a:solidFill>
                <a:latin typeface="Times New Roman"/>
                <a:cs typeface="Times New Roman"/>
              </a:rPr>
              <a:t>COMPUTER</a:t>
            </a:r>
            <a:r>
              <a:rPr sz="2800" b="1" spc="-70" dirty="0">
                <a:solidFill>
                  <a:srgbClr val="780373"/>
                </a:solidFill>
                <a:latin typeface="Times New Roman"/>
                <a:cs typeface="Times New Roman"/>
              </a:rPr>
              <a:t> </a:t>
            </a:r>
            <a:r>
              <a:rPr sz="2800" b="1" dirty="0">
                <a:solidFill>
                  <a:srgbClr val="780373"/>
                </a:solidFill>
                <a:latin typeface="Times New Roman"/>
                <a:cs typeface="Times New Roman"/>
              </a:rPr>
              <a:t>SCIENCE</a:t>
            </a:r>
            <a:r>
              <a:rPr sz="2800" b="1" spc="-70" dirty="0">
                <a:solidFill>
                  <a:srgbClr val="780373"/>
                </a:solidFill>
                <a:latin typeface="Times New Roman"/>
                <a:cs typeface="Times New Roman"/>
              </a:rPr>
              <a:t> </a:t>
            </a:r>
            <a:r>
              <a:rPr sz="2800" b="1" dirty="0">
                <a:solidFill>
                  <a:srgbClr val="780373"/>
                </a:solidFill>
                <a:latin typeface="Times New Roman"/>
                <a:cs typeface="Times New Roman"/>
              </a:rPr>
              <a:t>&amp;</a:t>
            </a:r>
            <a:r>
              <a:rPr sz="2800" b="1" spc="-100" dirty="0">
                <a:solidFill>
                  <a:srgbClr val="780373"/>
                </a:solidFill>
                <a:latin typeface="Times New Roman"/>
                <a:cs typeface="Times New Roman"/>
              </a:rPr>
              <a:t> </a:t>
            </a:r>
            <a:r>
              <a:rPr sz="2800" b="1" spc="-10" dirty="0">
                <a:solidFill>
                  <a:srgbClr val="780373"/>
                </a:solidFill>
                <a:latin typeface="Times New Roman"/>
                <a:cs typeface="Times New Roman"/>
              </a:rPr>
              <a:t>ENGINEERING</a:t>
            </a:r>
            <a:endParaRPr sz="2800" dirty="0">
              <a:latin typeface="Times New Roman"/>
              <a:cs typeface="Times New Roman"/>
            </a:endParaRPr>
          </a:p>
          <a:p>
            <a:pPr algn="ctr">
              <a:lnSpc>
                <a:spcPts val="2370"/>
              </a:lnSpc>
              <a:spcBef>
                <a:spcPts val="80"/>
              </a:spcBef>
            </a:pPr>
            <a:r>
              <a:rPr sz="2000" b="1" dirty="0">
                <a:latin typeface="Times New Roman"/>
                <a:cs typeface="Times New Roman"/>
              </a:rPr>
              <a:t>(CSE</a:t>
            </a:r>
            <a:r>
              <a:rPr sz="2000" b="1" spc="-15" dirty="0">
                <a:latin typeface="Times New Roman"/>
                <a:cs typeface="Times New Roman"/>
              </a:rPr>
              <a:t> </a:t>
            </a:r>
            <a:r>
              <a:rPr sz="2000" b="1" dirty="0">
                <a:latin typeface="Times New Roman"/>
                <a:cs typeface="Times New Roman"/>
              </a:rPr>
              <a:t>–</a:t>
            </a:r>
            <a:r>
              <a:rPr sz="2000" b="1" spc="-10" dirty="0">
                <a:latin typeface="Times New Roman"/>
                <a:cs typeface="Times New Roman"/>
              </a:rPr>
              <a:t> </a:t>
            </a:r>
            <a:r>
              <a:rPr sz="2000" b="1" dirty="0">
                <a:latin typeface="Times New Roman"/>
                <a:cs typeface="Times New Roman"/>
              </a:rPr>
              <a:t>B</a:t>
            </a:r>
            <a:r>
              <a:rPr sz="2000" b="1" spc="-50" dirty="0">
                <a:latin typeface="Times New Roman"/>
                <a:cs typeface="Times New Roman"/>
              </a:rPr>
              <a:t>)</a:t>
            </a:r>
            <a:endParaRPr sz="2000" dirty="0">
              <a:latin typeface="Times New Roman"/>
              <a:cs typeface="Times New Roman"/>
            </a:endParaRPr>
          </a:p>
          <a:p>
            <a:pPr algn="ctr">
              <a:lnSpc>
                <a:spcPts val="3329"/>
              </a:lnSpc>
            </a:pPr>
            <a:r>
              <a:rPr sz="2800" b="1" dirty="0">
                <a:solidFill>
                  <a:srgbClr val="FF0000"/>
                </a:solidFill>
                <a:latin typeface="Times New Roman"/>
                <a:cs typeface="Times New Roman"/>
              </a:rPr>
              <a:t>M</a:t>
            </a:r>
            <a:r>
              <a:rPr lang="en-IN" sz="2800" b="1" dirty="0" err="1">
                <a:solidFill>
                  <a:srgbClr val="FF0000"/>
                </a:solidFill>
                <a:latin typeface="Times New Roman"/>
                <a:cs typeface="Times New Roman"/>
              </a:rPr>
              <a:t>ajor</a:t>
            </a:r>
            <a:r>
              <a:rPr sz="2800" b="1" spc="-105" dirty="0">
                <a:solidFill>
                  <a:srgbClr val="FF0000"/>
                </a:solidFill>
                <a:latin typeface="Times New Roman"/>
                <a:cs typeface="Times New Roman"/>
              </a:rPr>
              <a:t> </a:t>
            </a:r>
            <a:r>
              <a:rPr sz="2800" b="1" dirty="0">
                <a:solidFill>
                  <a:srgbClr val="FF0000"/>
                </a:solidFill>
                <a:latin typeface="Times New Roman"/>
                <a:cs typeface="Times New Roman"/>
              </a:rPr>
              <a:t>Project</a:t>
            </a:r>
            <a:r>
              <a:rPr sz="2800" b="1" spc="-70" dirty="0">
                <a:solidFill>
                  <a:srgbClr val="FF0000"/>
                </a:solidFill>
                <a:latin typeface="Times New Roman"/>
                <a:cs typeface="Times New Roman"/>
              </a:rPr>
              <a:t> </a:t>
            </a:r>
            <a:r>
              <a:rPr sz="2800" b="1" spc="-10" dirty="0">
                <a:solidFill>
                  <a:srgbClr val="FF0000"/>
                </a:solidFill>
                <a:latin typeface="Times New Roman"/>
                <a:cs typeface="Times New Roman"/>
              </a:rPr>
              <a:t>Presentation</a:t>
            </a:r>
            <a:r>
              <a:rPr sz="2800" b="1" spc="-90" dirty="0">
                <a:solidFill>
                  <a:srgbClr val="FF0000"/>
                </a:solidFill>
                <a:latin typeface="Times New Roman"/>
                <a:cs typeface="Times New Roman"/>
              </a:rPr>
              <a:t> </a:t>
            </a:r>
            <a:r>
              <a:rPr sz="2800" b="1" spc="-25" dirty="0">
                <a:solidFill>
                  <a:srgbClr val="FF0000"/>
                </a:solidFill>
                <a:latin typeface="Times New Roman"/>
                <a:cs typeface="Times New Roman"/>
              </a:rPr>
              <a:t>on</a:t>
            </a:r>
            <a:endParaRPr sz="2800" dirty="0">
              <a:latin typeface="Times New Roman"/>
              <a:cs typeface="Times New Roman"/>
            </a:endParaRPr>
          </a:p>
          <a:p>
            <a:pPr marL="4054475" marR="4048760" algn="ctr">
              <a:lnSpc>
                <a:spcPts val="3320"/>
              </a:lnSpc>
              <a:spcBef>
                <a:spcPts val="1540"/>
              </a:spcBef>
            </a:pPr>
            <a:r>
              <a:rPr lang="en-US" sz="2800" b="1" spc="-10" dirty="0" err="1">
                <a:solidFill>
                  <a:srgbClr val="001CFF"/>
                </a:solidFill>
                <a:latin typeface="Times New Roman"/>
                <a:cs typeface="Times New Roman"/>
              </a:rPr>
              <a:t>AquaPredict</a:t>
            </a:r>
            <a:r>
              <a:rPr sz="2800" b="1" spc="-10" dirty="0">
                <a:solidFill>
                  <a:srgbClr val="001CFF"/>
                </a:solidFill>
                <a:latin typeface="Times New Roman"/>
                <a:cs typeface="Times New Roman"/>
              </a:rPr>
              <a:t> </a:t>
            </a:r>
            <a:r>
              <a:rPr sz="2800" b="1" spc="-25" dirty="0">
                <a:solidFill>
                  <a:srgbClr val="FF0000"/>
                </a:solidFill>
                <a:latin typeface="Times New Roman"/>
                <a:cs typeface="Times New Roman"/>
              </a:rPr>
              <a:t>by</a:t>
            </a:r>
            <a:endParaRPr sz="2800" dirty="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795110610"/>
              </p:ext>
            </p:extLst>
          </p:nvPr>
        </p:nvGraphicFramePr>
        <p:xfrm>
          <a:off x="3324745" y="3802023"/>
          <a:ext cx="5542280" cy="1071245"/>
        </p:xfrm>
        <a:graphic>
          <a:graphicData uri="http://schemas.openxmlformats.org/drawingml/2006/table">
            <a:tbl>
              <a:tblPr firstRow="1" bandRow="1">
                <a:tableStyleId>{2D5ABB26-0587-4C30-8999-92F81FD0307C}</a:tableStyleId>
              </a:tblPr>
              <a:tblGrid>
                <a:gridCol w="3285490">
                  <a:extLst>
                    <a:ext uri="{9D8B030D-6E8A-4147-A177-3AD203B41FA5}">
                      <a16:colId xmlns:a16="http://schemas.microsoft.com/office/drawing/2014/main" val="20000"/>
                    </a:ext>
                  </a:extLst>
                </a:gridCol>
                <a:gridCol w="2256790">
                  <a:extLst>
                    <a:ext uri="{9D8B030D-6E8A-4147-A177-3AD203B41FA5}">
                      <a16:colId xmlns:a16="http://schemas.microsoft.com/office/drawing/2014/main" val="20001"/>
                    </a:ext>
                  </a:extLst>
                </a:gridCol>
              </a:tblGrid>
              <a:tr h="351790">
                <a:tc>
                  <a:txBody>
                    <a:bodyPr/>
                    <a:lstStyle/>
                    <a:p>
                      <a:pPr marL="46355">
                        <a:lnSpc>
                          <a:spcPts val="2620"/>
                        </a:lnSpc>
                      </a:pPr>
                      <a:r>
                        <a:rPr sz="2400" b="1" spc="-45" dirty="0">
                          <a:latin typeface="Times New Roman"/>
                          <a:cs typeface="Times New Roman"/>
                        </a:rPr>
                        <a:t>Vandanapu</a:t>
                      </a:r>
                      <a:r>
                        <a:rPr sz="2400" b="1" spc="-65" dirty="0">
                          <a:latin typeface="Times New Roman"/>
                          <a:cs typeface="Times New Roman"/>
                        </a:rPr>
                        <a:t> </a:t>
                      </a:r>
                      <a:r>
                        <a:rPr sz="2400" b="1" spc="-10" dirty="0">
                          <a:latin typeface="Times New Roman"/>
                          <a:cs typeface="Times New Roman"/>
                        </a:rPr>
                        <a:t>Ashwita</a:t>
                      </a:r>
                      <a:endParaRPr sz="2400">
                        <a:latin typeface="Times New Roman"/>
                        <a:cs typeface="Times New Roman"/>
                      </a:endParaRPr>
                    </a:p>
                  </a:txBody>
                  <a:tcPr marL="0" marR="0" marT="0" marB="0"/>
                </a:tc>
                <a:tc>
                  <a:txBody>
                    <a:bodyPr/>
                    <a:lstStyle/>
                    <a:p>
                      <a:pPr marR="40640" algn="r">
                        <a:lnSpc>
                          <a:spcPts val="2620"/>
                        </a:lnSpc>
                      </a:pPr>
                      <a:r>
                        <a:rPr sz="2400" b="1" dirty="0">
                          <a:latin typeface="Times New Roman"/>
                          <a:cs typeface="Times New Roman"/>
                        </a:rPr>
                        <a:t>– </a:t>
                      </a:r>
                      <a:r>
                        <a:rPr lang="en-US" sz="2400" b="1" dirty="0">
                          <a:latin typeface="Times New Roman"/>
                          <a:cs typeface="Times New Roman"/>
                        </a:rPr>
                        <a:t> </a:t>
                      </a:r>
                      <a:r>
                        <a:rPr sz="2400" b="1" spc="-10" dirty="0">
                          <a:latin typeface="Times New Roman"/>
                          <a:cs typeface="Times New Roman"/>
                        </a:rPr>
                        <a:t>245523733124</a:t>
                      </a:r>
                      <a:endParaRPr sz="2400" dirty="0">
                        <a:latin typeface="Times New Roman"/>
                        <a:cs typeface="Times New Roman"/>
                      </a:endParaRPr>
                    </a:p>
                  </a:txBody>
                  <a:tcPr marL="0" marR="0" marT="0" marB="0"/>
                </a:tc>
                <a:extLst>
                  <a:ext uri="{0D108BD9-81ED-4DB2-BD59-A6C34878D82A}">
                    <a16:rowId xmlns:a16="http://schemas.microsoft.com/office/drawing/2014/main" val="10000"/>
                  </a:ext>
                </a:extLst>
              </a:tr>
              <a:tr h="367030">
                <a:tc>
                  <a:txBody>
                    <a:bodyPr/>
                    <a:lstStyle/>
                    <a:p>
                      <a:pPr marL="41910">
                        <a:lnSpc>
                          <a:spcPts val="2735"/>
                        </a:lnSpc>
                      </a:pPr>
                      <a:r>
                        <a:rPr sz="2400" b="1" dirty="0">
                          <a:latin typeface="Times New Roman"/>
                          <a:cs typeface="Times New Roman"/>
                        </a:rPr>
                        <a:t>Meenu</a:t>
                      </a:r>
                      <a:r>
                        <a:rPr sz="2400" b="1" spc="-50" dirty="0">
                          <a:latin typeface="Times New Roman"/>
                          <a:cs typeface="Times New Roman"/>
                        </a:rPr>
                        <a:t> </a:t>
                      </a:r>
                      <a:r>
                        <a:rPr sz="2400" b="1" dirty="0">
                          <a:latin typeface="Times New Roman"/>
                          <a:cs typeface="Times New Roman"/>
                        </a:rPr>
                        <a:t>Sree</a:t>
                      </a:r>
                      <a:r>
                        <a:rPr sz="2400" b="1" spc="-100" dirty="0">
                          <a:latin typeface="Times New Roman"/>
                          <a:cs typeface="Times New Roman"/>
                        </a:rPr>
                        <a:t> </a:t>
                      </a:r>
                      <a:r>
                        <a:rPr sz="2400" b="1" spc="-10" dirty="0">
                          <a:latin typeface="Times New Roman"/>
                          <a:cs typeface="Times New Roman"/>
                        </a:rPr>
                        <a:t>Vanaparthi</a:t>
                      </a:r>
                      <a:endParaRPr sz="2400">
                        <a:latin typeface="Times New Roman"/>
                        <a:cs typeface="Times New Roman"/>
                      </a:endParaRPr>
                    </a:p>
                  </a:txBody>
                  <a:tcPr marL="0" marR="0" marT="0" marB="0"/>
                </a:tc>
                <a:tc>
                  <a:txBody>
                    <a:bodyPr/>
                    <a:lstStyle/>
                    <a:p>
                      <a:pPr marR="36195" algn="r">
                        <a:lnSpc>
                          <a:spcPts val="2735"/>
                        </a:lnSpc>
                      </a:pPr>
                      <a:r>
                        <a:rPr sz="2400" b="1" dirty="0">
                          <a:latin typeface="Times New Roman"/>
                          <a:cs typeface="Times New Roman"/>
                        </a:rPr>
                        <a:t>–</a:t>
                      </a:r>
                      <a:r>
                        <a:rPr sz="2400" b="1" spc="-5" dirty="0">
                          <a:latin typeface="Times New Roman"/>
                          <a:cs typeface="Times New Roman"/>
                        </a:rPr>
                        <a:t> </a:t>
                      </a:r>
                      <a:r>
                        <a:rPr lang="en-US" sz="2400" b="1" spc="-5" dirty="0">
                          <a:latin typeface="Times New Roman"/>
                          <a:cs typeface="Times New Roman"/>
                        </a:rPr>
                        <a:t> </a:t>
                      </a:r>
                      <a:r>
                        <a:rPr sz="2400" b="1" spc="-10" dirty="0">
                          <a:latin typeface="Times New Roman"/>
                          <a:cs typeface="Times New Roman"/>
                        </a:rPr>
                        <a:t>245523733106</a:t>
                      </a:r>
                      <a:endParaRPr sz="2400" dirty="0">
                        <a:latin typeface="Times New Roman"/>
                        <a:cs typeface="Times New Roman"/>
                      </a:endParaRPr>
                    </a:p>
                  </a:txBody>
                  <a:tcPr marL="0" marR="0" marT="0" marB="0"/>
                </a:tc>
                <a:extLst>
                  <a:ext uri="{0D108BD9-81ED-4DB2-BD59-A6C34878D82A}">
                    <a16:rowId xmlns:a16="http://schemas.microsoft.com/office/drawing/2014/main" val="10001"/>
                  </a:ext>
                </a:extLst>
              </a:tr>
              <a:tr h="352425">
                <a:tc>
                  <a:txBody>
                    <a:bodyPr/>
                    <a:lstStyle/>
                    <a:p>
                      <a:pPr marL="31750">
                        <a:lnSpc>
                          <a:spcPts val="2675"/>
                        </a:lnSpc>
                      </a:pPr>
                      <a:r>
                        <a:rPr sz="2400" b="1" dirty="0">
                          <a:latin typeface="Times New Roman"/>
                          <a:cs typeface="Times New Roman"/>
                        </a:rPr>
                        <a:t>Vineeth</a:t>
                      </a:r>
                      <a:r>
                        <a:rPr sz="2400" b="1" spc="-110" dirty="0">
                          <a:latin typeface="Times New Roman"/>
                          <a:cs typeface="Times New Roman"/>
                        </a:rPr>
                        <a:t> </a:t>
                      </a:r>
                      <a:r>
                        <a:rPr sz="2400" b="1" dirty="0">
                          <a:latin typeface="Times New Roman"/>
                          <a:cs typeface="Times New Roman"/>
                        </a:rPr>
                        <a:t>kumar</a:t>
                      </a:r>
                      <a:r>
                        <a:rPr sz="2400" b="1" spc="-130" dirty="0">
                          <a:latin typeface="Times New Roman"/>
                          <a:cs typeface="Times New Roman"/>
                        </a:rPr>
                        <a:t> </a:t>
                      </a:r>
                      <a:r>
                        <a:rPr sz="2400" b="1" spc="-25" dirty="0">
                          <a:latin typeface="Times New Roman"/>
                          <a:cs typeface="Times New Roman"/>
                        </a:rPr>
                        <a:t>Jha</a:t>
                      </a:r>
                      <a:endParaRPr sz="2400" dirty="0">
                        <a:latin typeface="Times New Roman"/>
                        <a:cs typeface="Times New Roman"/>
                      </a:endParaRPr>
                    </a:p>
                  </a:txBody>
                  <a:tcPr marL="0" marR="0" marT="0" marB="0"/>
                </a:tc>
                <a:tc>
                  <a:txBody>
                    <a:bodyPr/>
                    <a:lstStyle/>
                    <a:p>
                      <a:pPr marR="24130" algn="r">
                        <a:lnSpc>
                          <a:spcPts val="2675"/>
                        </a:lnSpc>
                      </a:pPr>
                      <a:r>
                        <a:rPr sz="2400" b="1" dirty="0">
                          <a:latin typeface="Times New Roman"/>
                          <a:cs typeface="Times New Roman"/>
                        </a:rPr>
                        <a:t>– </a:t>
                      </a:r>
                      <a:r>
                        <a:rPr lang="en-US" sz="2400" b="1" dirty="0">
                          <a:latin typeface="Times New Roman"/>
                          <a:cs typeface="Times New Roman"/>
                        </a:rPr>
                        <a:t> </a:t>
                      </a:r>
                      <a:r>
                        <a:rPr sz="2400" b="1" spc="-10" dirty="0">
                          <a:latin typeface="Times New Roman"/>
                          <a:cs typeface="Times New Roman"/>
                        </a:rPr>
                        <a:t>245523733128</a:t>
                      </a:r>
                      <a:endParaRPr sz="2400" dirty="0">
                        <a:latin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
        <p:nvSpPr>
          <p:cNvPr id="6" name="object 6"/>
          <p:cNvSpPr txBox="1"/>
          <p:nvPr/>
        </p:nvSpPr>
        <p:spPr>
          <a:xfrm>
            <a:off x="4454461" y="4970574"/>
            <a:ext cx="3610229" cy="1189355"/>
          </a:xfrm>
          <a:prstGeom prst="rect">
            <a:avLst/>
          </a:prstGeom>
        </p:spPr>
        <p:txBody>
          <a:bodyPr vert="horz" wrap="square" lIns="0" tIns="52069" rIns="0" bIns="0" rtlCol="0">
            <a:spAutoFit/>
          </a:bodyPr>
          <a:lstStyle/>
          <a:p>
            <a:pPr algn="ctr">
              <a:lnSpc>
                <a:spcPct val="100000"/>
              </a:lnSpc>
              <a:spcBef>
                <a:spcPts val="409"/>
              </a:spcBef>
            </a:pPr>
            <a:r>
              <a:rPr sz="2400" b="1" spc="-10" dirty="0">
                <a:latin typeface="Times New Roman"/>
                <a:cs typeface="Times New Roman"/>
              </a:rPr>
              <a:t>Guide:</a:t>
            </a:r>
            <a:endParaRPr sz="2400" dirty="0">
              <a:latin typeface="Times New Roman"/>
              <a:cs typeface="Times New Roman"/>
            </a:endParaRPr>
          </a:p>
          <a:p>
            <a:pPr algn="ctr">
              <a:lnSpc>
                <a:spcPct val="100000"/>
              </a:lnSpc>
              <a:spcBef>
                <a:spcPts val="315"/>
              </a:spcBef>
            </a:pPr>
            <a:r>
              <a:rPr sz="2400" b="1" spc="-50" dirty="0">
                <a:latin typeface="Times New Roman"/>
                <a:cs typeface="Times New Roman"/>
              </a:rPr>
              <a:t>Dr.</a:t>
            </a:r>
            <a:r>
              <a:rPr lang="en-US" sz="2400" b="1" spc="-50" dirty="0">
                <a:latin typeface="Times New Roman"/>
                <a:cs typeface="Times New Roman"/>
              </a:rPr>
              <a:t> Ch. Rathan Kumar</a:t>
            </a:r>
            <a:r>
              <a:rPr sz="2400" b="1" spc="-95" dirty="0">
                <a:latin typeface="Times New Roman"/>
                <a:cs typeface="Times New Roman"/>
              </a:rPr>
              <a:t> </a:t>
            </a:r>
            <a:endParaRPr sz="2400" dirty="0">
              <a:latin typeface="Times New Roman"/>
              <a:cs typeface="Times New Roman"/>
            </a:endParaRPr>
          </a:p>
          <a:p>
            <a:pPr algn="ctr">
              <a:lnSpc>
                <a:spcPct val="100000"/>
              </a:lnSpc>
              <a:spcBef>
                <a:spcPts val="375"/>
              </a:spcBef>
            </a:pPr>
            <a:r>
              <a:rPr sz="2000" b="1" dirty="0">
                <a:latin typeface="Times New Roman"/>
                <a:cs typeface="Times New Roman"/>
              </a:rPr>
              <a:t>Ass</a:t>
            </a:r>
            <a:r>
              <a:rPr lang="en-IN" sz="2000" b="1" dirty="0" err="1">
                <a:latin typeface="Times New Roman"/>
                <a:cs typeface="Times New Roman"/>
              </a:rPr>
              <a:t>istant</a:t>
            </a:r>
            <a:r>
              <a:rPr sz="2000" b="1" spc="-75" dirty="0">
                <a:latin typeface="Times New Roman"/>
                <a:cs typeface="Times New Roman"/>
              </a:rPr>
              <a:t> </a:t>
            </a:r>
            <a:r>
              <a:rPr sz="2000" b="1" dirty="0">
                <a:latin typeface="Times New Roman"/>
                <a:cs typeface="Times New Roman"/>
              </a:rPr>
              <a:t>Professor</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300023" y="147319"/>
            <a:ext cx="1688821" cy="258404"/>
          </a:xfrm>
          <a:prstGeom prst="rect">
            <a:avLst/>
          </a:prstGeom>
        </p:spPr>
        <p:txBody>
          <a:bodyPr vert="horz" wrap="square" lIns="0" tIns="12065" rIns="0" bIns="0" rtlCol="0">
            <a:spAutoFit/>
          </a:bodyPr>
          <a:lstStyle/>
          <a:p>
            <a:pPr marL="12700">
              <a:lnSpc>
                <a:spcPct val="100000"/>
              </a:lnSpc>
              <a:spcBef>
                <a:spcPts val="95"/>
              </a:spcBef>
            </a:pPr>
            <a:r>
              <a:rPr sz="1600" dirty="0">
                <a:latin typeface="Times New Roman"/>
                <a:cs typeface="Times New Roman"/>
              </a:rPr>
              <a:t>Batch</a:t>
            </a:r>
            <a:r>
              <a:rPr sz="1600" spc="-30" dirty="0">
                <a:latin typeface="Times New Roman"/>
                <a:cs typeface="Times New Roman"/>
              </a:rPr>
              <a:t> </a:t>
            </a:r>
            <a:r>
              <a:rPr sz="1600" spc="-10" dirty="0">
                <a:latin typeface="Times New Roman"/>
                <a:cs typeface="Times New Roman"/>
              </a:rPr>
              <a:t>No:</a:t>
            </a:r>
            <a:r>
              <a:rPr lang="en-US" sz="1600" spc="-10" dirty="0">
                <a:latin typeface="Times New Roman"/>
                <a:cs typeface="Times New Roman"/>
              </a:rPr>
              <a:t>2026</a:t>
            </a:r>
            <a:r>
              <a:rPr sz="1600" spc="-10" dirty="0">
                <a:latin typeface="Times New Roman"/>
                <a:cs typeface="Times New Roman"/>
              </a:rPr>
              <a:t>B</a:t>
            </a:r>
            <a:r>
              <a:rPr lang="en-US" sz="1600" spc="-10" dirty="0">
                <a:latin typeface="Times New Roman"/>
                <a:cs typeface="Times New Roman"/>
              </a:rPr>
              <a:t>03</a:t>
            </a:r>
            <a:endParaRPr sz="1600" dirty="0">
              <a:latin typeface="Times New Roman"/>
              <a:cs typeface="Times New Roman"/>
            </a:endParaRPr>
          </a:p>
        </p:txBody>
      </p:sp>
      <p:sp>
        <p:nvSpPr>
          <p:cNvPr id="8" name="object 8"/>
          <p:cNvSpPr txBox="1"/>
          <p:nvPr/>
        </p:nvSpPr>
        <p:spPr>
          <a:xfrm>
            <a:off x="10661905" y="147319"/>
            <a:ext cx="1530095" cy="258404"/>
          </a:xfrm>
          <a:prstGeom prst="rect">
            <a:avLst/>
          </a:prstGeom>
        </p:spPr>
        <p:txBody>
          <a:bodyPr vert="horz" wrap="square" lIns="0" tIns="12065" rIns="0" bIns="0" rtlCol="0">
            <a:spAutoFit/>
          </a:bodyPr>
          <a:lstStyle/>
          <a:p>
            <a:pPr marL="12700">
              <a:lnSpc>
                <a:spcPct val="100000"/>
              </a:lnSpc>
              <a:spcBef>
                <a:spcPts val="95"/>
              </a:spcBef>
            </a:pPr>
            <a:r>
              <a:rPr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AquaPredict</a:t>
            </a:r>
            <a:r>
              <a:rPr sz="1600" spc="-1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p:txBody>
      </p:sp>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316990">
              <a:lnSpc>
                <a:spcPct val="100000"/>
              </a:lnSpc>
              <a:spcBef>
                <a:spcPts val="100"/>
              </a:spcBef>
            </a:pPr>
            <a:r>
              <a:rPr spc="-10" dirty="0"/>
              <a:t>Index</a:t>
            </a:r>
          </a:p>
        </p:txBody>
      </p:sp>
      <p:sp>
        <p:nvSpPr>
          <p:cNvPr id="3" name="object 3"/>
          <p:cNvSpPr txBox="1"/>
          <p:nvPr/>
        </p:nvSpPr>
        <p:spPr>
          <a:xfrm>
            <a:off x="1099210" y="1612138"/>
            <a:ext cx="889635"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Times New Roman"/>
                <a:cs typeface="Times New Roman"/>
              </a:rPr>
              <a:t>Abstract</a:t>
            </a:r>
            <a:endParaRPr sz="2000">
              <a:latin typeface="Times New Roman"/>
              <a:cs typeface="Times New Roman"/>
            </a:endParaRPr>
          </a:p>
        </p:txBody>
      </p:sp>
      <p:sp>
        <p:nvSpPr>
          <p:cNvPr id="5" name="object 5"/>
          <p:cNvSpPr txBox="1"/>
          <p:nvPr/>
        </p:nvSpPr>
        <p:spPr>
          <a:xfrm>
            <a:off x="657250" y="2222728"/>
            <a:ext cx="2419350" cy="2616101"/>
          </a:xfrm>
          <a:prstGeom prst="rect">
            <a:avLst/>
          </a:prstGeom>
        </p:spPr>
        <p:txBody>
          <a:bodyPr vert="horz" wrap="square" lIns="0" tIns="76200" rIns="0" bIns="0" rtlCol="0">
            <a:spAutoFit/>
          </a:bodyPr>
          <a:lstStyle/>
          <a:p>
            <a:pPr marL="469265" indent="-456565">
              <a:lnSpc>
                <a:spcPct val="100000"/>
              </a:lnSpc>
              <a:spcBef>
                <a:spcPts val="600"/>
              </a:spcBef>
              <a:buAutoNum type="arabicPeriod"/>
              <a:tabLst>
                <a:tab pos="469265" algn="l"/>
              </a:tabLst>
            </a:pPr>
            <a:r>
              <a:rPr sz="2000" spc="-10" dirty="0">
                <a:latin typeface="Times New Roman"/>
                <a:cs typeface="Times New Roman"/>
              </a:rPr>
              <a:t>Introduction</a:t>
            </a:r>
            <a:endParaRPr sz="2000" dirty="0">
              <a:latin typeface="Times New Roman"/>
              <a:cs typeface="Times New Roman"/>
            </a:endParaRPr>
          </a:p>
          <a:p>
            <a:pPr marL="469265" indent="-456565">
              <a:lnSpc>
                <a:spcPct val="100000"/>
              </a:lnSpc>
              <a:spcBef>
                <a:spcPts val="505"/>
              </a:spcBef>
              <a:buAutoNum type="arabicPeriod"/>
              <a:tabLst>
                <a:tab pos="469265" algn="l"/>
              </a:tabLst>
            </a:pPr>
            <a:r>
              <a:rPr sz="2000" dirty="0">
                <a:latin typeface="Times New Roman"/>
                <a:cs typeface="Times New Roman"/>
              </a:rPr>
              <a:t>Literature</a:t>
            </a:r>
            <a:r>
              <a:rPr sz="2000" spc="-40" dirty="0">
                <a:latin typeface="Times New Roman"/>
                <a:cs typeface="Times New Roman"/>
              </a:rPr>
              <a:t> </a:t>
            </a:r>
            <a:r>
              <a:rPr sz="2000" spc="-10" dirty="0">
                <a:latin typeface="Times New Roman"/>
                <a:cs typeface="Times New Roman"/>
              </a:rPr>
              <a:t>Survey</a:t>
            </a:r>
            <a:endParaRPr sz="2000" dirty="0">
              <a:latin typeface="Times New Roman"/>
              <a:cs typeface="Times New Roman"/>
            </a:endParaRPr>
          </a:p>
          <a:p>
            <a:pPr marL="469265" indent="-456565">
              <a:lnSpc>
                <a:spcPct val="100000"/>
              </a:lnSpc>
              <a:spcBef>
                <a:spcPts val="495"/>
              </a:spcBef>
              <a:buAutoNum type="arabicPeriod"/>
              <a:tabLst>
                <a:tab pos="469265" algn="l"/>
              </a:tabLst>
            </a:pPr>
            <a:r>
              <a:rPr sz="2000" dirty="0">
                <a:latin typeface="Times New Roman"/>
                <a:cs typeface="Times New Roman"/>
              </a:rPr>
              <a:t>Problem</a:t>
            </a:r>
            <a:r>
              <a:rPr sz="2000" spc="-40" dirty="0">
                <a:latin typeface="Times New Roman"/>
                <a:cs typeface="Times New Roman"/>
              </a:rPr>
              <a:t> </a:t>
            </a:r>
            <a:r>
              <a:rPr sz="2000" spc="-10" dirty="0">
                <a:latin typeface="Times New Roman"/>
                <a:cs typeface="Times New Roman"/>
              </a:rPr>
              <a:t>Statement</a:t>
            </a:r>
            <a:endParaRPr sz="2000" dirty="0">
              <a:latin typeface="Times New Roman"/>
              <a:cs typeface="Times New Roman"/>
            </a:endParaRPr>
          </a:p>
          <a:p>
            <a:pPr marL="469265" indent="-456565">
              <a:lnSpc>
                <a:spcPct val="100000"/>
              </a:lnSpc>
              <a:spcBef>
                <a:spcPts val="500"/>
              </a:spcBef>
              <a:buAutoNum type="arabicPeriod"/>
              <a:tabLst>
                <a:tab pos="469265" algn="l"/>
              </a:tabLst>
            </a:pPr>
            <a:r>
              <a:rPr sz="2000" spc="-10" dirty="0">
                <a:latin typeface="Times New Roman"/>
                <a:cs typeface="Times New Roman"/>
              </a:rPr>
              <a:t>Methodology</a:t>
            </a:r>
            <a:endParaRPr sz="2000" dirty="0">
              <a:latin typeface="Times New Roman"/>
              <a:cs typeface="Times New Roman"/>
            </a:endParaRPr>
          </a:p>
          <a:p>
            <a:pPr marL="469265" indent="-456565">
              <a:lnSpc>
                <a:spcPct val="100000"/>
              </a:lnSpc>
              <a:spcBef>
                <a:spcPts val="495"/>
              </a:spcBef>
              <a:buAutoNum type="arabicPeriod"/>
              <a:tabLst>
                <a:tab pos="469265" algn="l"/>
              </a:tabLst>
            </a:pPr>
            <a:r>
              <a:rPr sz="2000" spc="-10" dirty="0">
                <a:latin typeface="Times New Roman"/>
                <a:cs typeface="Times New Roman"/>
              </a:rPr>
              <a:t>Requirements</a:t>
            </a:r>
            <a:endParaRPr sz="2000" dirty="0">
              <a:latin typeface="Times New Roman"/>
              <a:cs typeface="Times New Roman"/>
            </a:endParaRPr>
          </a:p>
          <a:p>
            <a:pPr marL="469265" marR="523240" indent="-457200">
              <a:lnSpc>
                <a:spcPct val="100000"/>
              </a:lnSpc>
              <a:spcBef>
                <a:spcPts val="505"/>
              </a:spcBef>
              <a:buAutoNum type="arabicPeriod"/>
              <a:tabLst>
                <a:tab pos="469265" algn="l"/>
              </a:tabLst>
            </a:pPr>
            <a:r>
              <a:rPr sz="2000" dirty="0">
                <a:latin typeface="Times New Roman"/>
                <a:cs typeface="Times New Roman"/>
              </a:rPr>
              <a:t>Conclusion</a:t>
            </a:r>
            <a:r>
              <a:rPr sz="2000" spc="-45" dirty="0">
                <a:latin typeface="Times New Roman"/>
                <a:cs typeface="Times New Roman"/>
              </a:rPr>
              <a:t> </a:t>
            </a:r>
            <a:endParaRPr sz="2000" dirty="0">
              <a:latin typeface="Times New Roman"/>
              <a:cs typeface="Times New Roman"/>
            </a:endParaRPr>
          </a:p>
          <a:p>
            <a:pPr marL="469265">
              <a:lnSpc>
                <a:spcPct val="100000"/>
              </a:lnSpc>
              <a:spcBef>
                <a:spcPts val="505"/>
              </a:spcBef>
            </a:pPr>
            <a:endParaRPr sz="2000" dirty="0">
              <a:latin typeface="Times New Roman"/>
              <a:cs typeface="Times New Roman"/>
            </a:endParaRPr>
          </a:p>
        </p:txBody>
      </p:sp>
      <p:sp>
        <p:nvSpPr>
          <p:cNvPr id="4" name="object 4"/>
          <p:cNvSpPr txBox="1">
            <a:spLocks noGrp="1"/>
          </p:cNvSpPr>
          <p:nvPr>
            <p:ph type="body" idx="1"/>
          </p:nvPr>
        </p:nvSpPr>
        <p:spPr>
          <a:prstGeom prst="rect">
            <a:avLst/>
          </a:prstGeom>
        </p:spPr>
        <p:txBody>
          <a:bodyPr vert="horz" wrap="square" lIns="0" tIns="13335" rIns="0" bIns="0" rtlCol="0">
            <a:spAutoFit/>
          </a:bodyPr>
          <a:lstStyle/>
          <a:p>
            <a:pPr marL="12700" marR="5080">
              <a:lnSpc>
                <a:spcPct val="100000"/>
              </a:lnSpc>
              <a:spcBef>
                <a:spcPts val="105"/>
              </a:spcBef>
            </a:pPr>
            <a:r>
              <a:rPr dirty="0"/>
              <a:t>The</a:t>
            </a:r>
            <a:r>
              <a:rPr spc="170" dirty="0"/>
              <a:t> </a:t>
            </a:r>
            <a:r>
              <a:rPr dirty="0"/>
              <a:t>project</a:t>
            </a:r>
            <a:r>
              <a:rPr spc="150" dirty="0"/>
              <a:t> </a:t>
            </a:r>
            <a:r>
              <a:rPr dirty="0"/>
              <a:t>overview</a:t>
            </a:r>
            <a:r>
              <a:rPr spc="180" dirty="0"/>
              <a:t> </a:t>
            </a:r>
            <a:r>
              <a:rPr dirty="0"/>
              <a:t>containing</a:t>
            </a:r>
            <a:r>
              <a:rPr spc="185" dirty="0"/>
              <a:t> </a:t>
            </a:r>
            <a:r>
              <a:rPr dirty="0"/>
              <a:t>the</a:t>
            </a:r>
            <a:r>
              <a:rPr spc="175" dirty="0"/>
              <a:t> </a:t>
            </a:r>
            <a:r>
              <a:rPr dirty="0"/>
              <a:t>base</a:t>
            </a:r>
            <a:r>
              <a:rPr spc="170" dirty="0"/>
              <a:t> </a:t>
            </a:r>
            <a:r>
              <a:rPr dirty="0"/>
              <a:t>paper’s</a:t>
            </a:r>
            <a:r>
              <a:rPr spc="175" dirty="0"/>
              <a:t> </a:t>
            </a:r>
            <a:r>
              <a:rPr dirty="0"/>
              <a:t>problem,</a:t>
            </a:r>
            <a:r>
              <a:rPr spc="175" dirty="0"/>
              <a:t> </a:t>
            </a:r>
            <a:r>
              <a:rPr dirty="0"/>
              <a:t>and</a:t>
            </a:r>
            <a:r>
              <a:rPr spc="180" dirty="0"/>
              <a:t> </a:t>
            </a:r>
            <a:r>
              <a:rPr dirty="0"/>
              <a:t>the</a:t>
            </a:r>
            <a:r>
              <a:rPr spc="180" dirty="0"/>
              <a:t> </a:t>
            </a:r>
            <a:r>
              <a:rPr spc="-10" dirty="0"/>
              <a:t>description </a:t>
            </a:r>
            <a:r>
              <a:rPr dirty="0"/>
              <a:t>of</a:t>
            </a:r>
            <a:r>
              <a:rPr spc="-30" dirty="0"/>
              <a:t> </a:t>
            </a:r>
            <a:r>
              <a:rPr dirty="0"/>
              <a:t>the</a:t>
            </a:r>
            <a:r>
              <a:rPr spc="-5" dirty="0"/>
              <a:t> </a:t>
            </a:r>
            <a:r>
              <a:rPr dirty="0"/>
              <a:t>project</a:t>
            </a:r>
            <a:r>
              <a:rPr spc="-45" dirty="0"/>
              <a:t> </a:t>
            </a:r>
            <a:r>
              <a:rPr dirty="0"/>
              <a:t>along</a:t>
            </a:r>
            <a:r>
              <a:rPr spc="-10" dirty="0"/>
              <a:t> </a:t>
            </a:r>
            <a:r>
              <a:rPr dirty="0"/>
              <a:t>with</a:t>
            </a:r>
            <a:r>
              <a:rPr spc="-15" dirty="0"/>
              <a:t> </a:t>
            </a:r>
            <a:r>
              <a:rPr spc="-10" dirty="0"/>
              <a:t>keywords</a:t>
            </a:r>
          </a:p>
          <a:p>
            <a:pPr marL="59690">
              <a:lnSpc>
                <a:spcPct val="100000"/>
              </a:lnSpc>
              <a:spcBef>
                <a:spcPts val="505"/>
              </a:spcBef>
            </a:pPr>
            <a:r>
              <a:rPr dirty="0"/>
              <a:t>The</a:t>
            </a:r>
            <a:r>
              <a:rPr spc="-5" dirty="0"/>
              <a:t> </a:t>
            </a:r>
            <a:r>
              <a:rPr dirty="0"/>
              <a:t>basic</a:t>
            </a:r>
            <a:r>
              <a:rPr spc="-30" dirty="0"/>
              <a:t> </a:t>
            </a:r>
            <a:r>
              <a:rPr dirty="0"/>
              <a:t>idea</a:t>
            </a:r>
            <a:r>
              <a:rPr spc="-10" dirty="0"/>
              <a:t> </a:t>
            </a:r>
            <a:r>
              <a:rPr dirty="0"/>
              <a:t>and</a:t>
            </a:r>
            <a:r>
              <a:rPr spc="-10" dirty="0"/>
              <a:t> </a:t>
            </a:r>
            <a:r>
              <a:rPr dirty="0"/>
              <a:t>scope</a:t>
            </a:r>
            <a:r>
              <a:rPr spc="-15" dirty="0"/>
              <a:t> </a:t>
            </a:r>
            <a:r>
              <a:rPr dirty="0"/>
              <a:t>of</a:t>
            </a:r>
            <a:r>
              <a:rPr spc="-15" dirty="0"/>
              <a:t> </a:t>
            </a:r>
            <a:r>
              <a:rPr dirty="0"/>
              <a:t>the</a:t>
            </a:r>
            <a:r>
              <a:rPr spc="-5" dirty="0"/>
              <a:t> </a:t>
            </a:r>
            <a:r>
              <a:rPr spc="-10" dirty="0"/>
              <a:t>project</a:t>
            </a:r>
          </a:p>
          <a:p>
            <a:pPr marL="59690">
              <a:lnSpc>
                <a:spcPct val="100000"/>
              </a:lnSpc>
              <a:spcBef>
                <a:spcPts val="505"/>
              </a:spcBef>
            </a:pPr>
            <a:r>
              <a:rPr dirty="0"/>
              <a:t>The</a:t>
            </a:r>
            <a:r>
              <a:rPr spc="-20" dirty="0"/>
              <a:t> </a:t>
            </a:r>
            <a:r>
              <a:rPr dirty="0"/>
              <a:t>base</a:t>
            </a:r>
            <a:r>
              <a:rPr spc="-15" dirty="0"/>
              <a:t> </a:t>
            </a:r>
            <a:r>
              <a:rPr dirty="0"/>
              <a:t>papers,</a:t>
            </a:r>
            <a:r>
              <a:rPr spc="-40" dirty="0"/>
              <a:t> </a:t>
            </a:r>
            <a:r>
              <a:rPr dirty="0"/>
              <a:t>with</a:t>
            </a:r>
            <a:r>
              <a:rPr spc="-10" dirty="0"/>
              <a:t> </a:t>
            </a:r>
            <a:r>
              <a:rPr dirty="0"/>
              <a:t>the</a:t>
            </a:r>
            <a:r>
              <a:rPr spc="-15" dirty="0"/>
              <a:t> </a:t>
            </a:r>
            <a:r>
              <a:rPr dirty="0"/>
              <a:t>challenges</a:t>
            </a:r>
            <a:r>
              <a:rPr spc="-45" dirty="0"/>
              <a:t> </a:t>
            </a:r>
            <a:r>
              <a:rPr dirty="0"/>
              <a:t>related</a:t>
            </a:r>
            <a:r>
              <a:rPr spc="-20" dirty="0"/>
              <a:t> </a:t>
            </a:r>
            <a:r>
              <a:rPr dirty="0"/>
              <a:t>to</a:t>
            </a:r>
            <a:r>
              <a:rPr spc="-5" dirty="0"/>
              <a:t> </a:t>
            </a:r>
            <a:r>
              <a:rPr spc="-10" dirty="0"/>
              <a:t>project</a:t>
            </a:r>
          </a:p>
          <a:p>
            <a:pPr marL="59690" marR="249554">
              <a:lnSpc>
                <a:spcPts val="2900"/>
              </a:lnSpc>
              <a:spcBef>
                <a:spcPts val="170"/>
              </a:spcBef>
            </a:pPr>
            <a:r>
              <a:rPr dirty="0"/>
              <a:t>The</a:t>
            </a:r>
            <a:r>
              <a:rPr spc="-10" dirty="0"/>
              <a:t> </a:t>
            </a:r>
            <a:r>
              <a:rPr dirty="0"/>
              <a:t>gaps/solution</a:t>
            </a:r>
            <a:r>
              <a:rPr spc="-55" dirty="0"/>
              <a:t> </a:t>
            </a:r>
            <a:r>
              <a:rPr dirty="0"/>
              <a:t>for</a:t>
            </a:r>
            <a:r>
              <a:rPr spc="-15" dirty="0"/>
              <a:t> </a:t>
            </a:r>
            <a:r>
              <a:rPr dirty="0"/>
              <a:t>the</a:t>
            </a:r>
            <a:r>
              <a:rPr spc="-25" dirty="0"/>
              <a:t> </a:t>
            </a:r>
            <a:r>
              <a:rPr dirty="0"/>
              <a:t>challenges</a:t>
            </a:r>
            <a:r>
              <a:rPr spc="-35" dirty="0"/>
              <a:t> </a:t>
            </a:r>
            <a:r>
              <a:rPr dirty="0"/>
              <a:t>of</a:t>
            </a:r>
            <a:r>
              <a:rPr spc="-20" dirty="0"/>
              <a:t> </a:t>
            </a:r>
            <a:r>
              <a:rPr dirty="0"/>
              <a:t>the</a:t>
            </a:r>
            <a:r>
              <a:rPr spc="-10" dirty="0"/>
              <a:t> </a:t>
            </a:r>
            <a:r>
              <a:rPr dirty="0"/>
              <a:t>existing</a:t>
            </a:r>
            <a:r>
              <a:rPr spc="-20" dirty="0"/>
              <a:t> </a:t>
            </a:r>
            <a:r>
              <a:rPr dirty="0"/>
              <a:t>project</a:t>
            </a:r>
            <a:r>
              <a:rPr spc="-40" dirty="0"/>
              <a:t> </a:t>
            </a:r>
            <a:r>
              <a:rPr dirty="0"/>
              <a:t>included</a:t>
            </a:r>
            <a:r>
              <a:rPr spc="-25" dirty="0"/>
              <a:t> </a:t>
            </a:r>
            <a:r>
              <a:rPr dirty="0"/>
              <a:t>in</a:t>
            </a:r>
            <a:r>
              <a:rPr spc="-15" dirty="0"/>
              <a:t> </a:t>
            </a:r>
            <a:r>
              <a:rPr spc="-10" dirty="0"/>
              <a:t>project </a:t>
            </a:r>
            <a:r>
              <a:rPr dirty="0"/>
              <a:t>The</a:t>
            </a:r>
            <a:r>
              <a:rPr spc="-10" dirty="0"/>
              <a:t> </a:t>
            </a:r>
            <a:r>
              <a:rPr dirty="0"/>
              <a:t>modules,</a:t>
            </a:r>
            <a:r>
              <a:rPr spc="-25" dirty="0"/>
              <a:t> </a:t>
            </a:r>
            <a:r>
              <a:rPr dirty="0"/>
              <a:t>features,</a:t>
            </a:r>
            <a:r>
              <a:rPr spc="-45" dirty="0"/>
              <a:t> </a:t>
            </a:r>
            <a:r>
              <a:rPr dirty="0"/>
              <a:t>process</a:t>
            </a:r>
            <a:r>
              <a:rPr spc="-25" dirty="0"/>
              <a:t> </a:t>
            </a:r>
            <a:r>
              <a:rPr dirty="0"/>
              <a:t>/</a:t>
            </a:r>
            <a:r>
              <a:rPr spc="-15" dirty="0"/>
              <a:t> </a:t>
            </a:r>
            <a:r>
              <a:rPr dirty="0"/>
              <a:t>algorithm</a:t>
            </a:r>
            <a:r>
              <a:rPr spc="-50" dirty="0"/>
              <a:t> </a:t>
            </a:r>
            <a:r>
              <a:rPr dirty="0"/>
              <a:t>used</a:t>
            </a:r>
            <a:r>
              <a:rPr spc="-15" dirty="0"/>
              <a:t> </a:t>
            </a:r>
            <a:r>
              <a:rPr dirty="0"/>
              <a:t>to</a:t>
            </a:r>
            <a:r>
              <a:rPr spc="-10" dirty="0"/>
              <a:t> </a:t>
            </a:r>
            <a:r>
              <a:rPr dirty="0"/>
              <a:t>develop</a:t>
            </a:r>
            <a:r>
              <a:rPr spc="-40" dirty="0"/>
              <a:t> </a:t>
            </a:r>
            <a:r>
              <a:rPr dirty="0"/>
              <a:t>the</a:t>
            </a:r>
            <a:r>
              <a:rPr spc="-10" dirty="0"/>
              <a:t> project</a:t>
            </a:r>
          </a:p>
          <a:p>
            <a:pPr marL="59690">
              <a:lnSpc>
                <a:spcPct val="100000"/>
              </a:lnSpc>
              <a:spcBef>
                <a:spcPts val="315"/>
              </a:spcBef>
            </a:pPr>
            <a:r>
              <a:rPr dirty="0"/>
              <a:t>Hardware</a:t>
            </a:r>
            <a:r>
              <a:rPr spc="-40" dirty="0"/>
              <a:t> </a:t>
            </a:r>
            <a:r>
              <a:rPr dirty="0"/>
              <a:t>and</a:t>
            </a:r>
            <a:r>
              <a:rPr spc="-10" dirty="0"/>
              <a:t> </a:t>
            </a:r>
            <a:r>
              <a:rPr dirty="0"/>
              <a:t>Software</a:t>
            </a:r>
            <a:r>
              <a:rPr spc="-35" dirty="0"/>
              <a:t> </a:t>
            </a:r>
            <a:r>
              <a:rPr spc="-10" dirty="0"/>
              <a:t>Requirements</a:t>
            </a:r>
          </a:p>
        </p:txBody>
      </p:sp>
      <p:sp>
        <p:nvSpPr>
          <p:cNvPr id="6" name="object 6"/>
          <p:cNvSpPr txBox="1"/>
          <p:nvPr/>
        </p:nvSpPr>
        <p:spPr>
          <a:xfrm>
            <a:off x="3400805" y="4127372"/>
            <a:ext cx="8195945" cy="628377"/>
          </a:xfrm>
          <a:prstGeom prst="rect">
            <a:avLst/>
          </a:prstGeom>
        </p:spPr>
        <p:txBody>
          <a:bodyPr vert="horz" wrap="square" lIns="0" tIns="12700" rIns="0" bIns="0" rtlCol="0">
            <a:spAutoFit/>
          </a:bodyPr>
          <a:lstStyle/>
          <a:p>
            <a:pPr marL="12700" marR="5080">
              <a:lnSpc>
                <a:spcPct val="100000"/>
              </a:lnSpc>
              <a:spcBef>
                <a:spcPts val="100"/>
              </a:spcBef>
              <a:tabLst>
                <a:tab pos="631190" algn="l"/>
                <a:tab pos="2199640" algn="l"/>
                <a:tab pos="3646170" algn="l"/>
                <a:tab pos="4080510" algn="l"/>
                <a:tab pos="4612005" algn="l"/>
                <a:tab pos="5541010" algn="l"/>
                <a:tab pos="6129020" algn="l"/>
                <a:tab pos="7802880" algn="l"/>
              </a:tabLst>
            </a:pP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observations,</a:t>
            </a:r>
            <a:r>
              <a:rPr sz="2000" dirty="0">
                <a:latin typeface="Times New Roman"/>
                <a:cs typeface="Times New Roman"/>
              </a:rPr>
              <a:t>	</a:t>
            </a:r>
            <a:r>
              <a:rPr sz="2000" spc="-10" dirty="0">
                <a:latin typeface="Times New Roman"/>
                <a:cs typeface="Times New Roman"/>
              </a:rPr>
              <a:t>applications</a:t>
            </a:r>
            <a:r>
              <a:rPr sz="2000" dirty="0">
                <a:latin typeface="Times New Roman"/>
                <a:cs typeface="Times New Roman"/>
              </a:rPr>
              <a:t>	</a:t>
            </a:r>
            <a:r>
              <a:rPr sz="2000" spc="-25" dirty="0">
                <a:latin typeface="Times New Roman"/>
                <a:cs typeface="Times New Roman"/>
              </a:rPr>
              <a:t>of</a:t>
            </a:r>
            <a:r>
              <a:rPr sz="2000" dirty="0">
                <a:latin typeface="Times New Roman"/>
                <a:cs typeface="Times New Roman"/>
              </a:rPr>
              <a:t>	</a:t>
            </a:r>
            <a:r>
              <a:rPr sz="2000" spc="-25" dirty="0">
                <a:latin typeface="Times New Roman"/>
                <a:cs typeface="Times New Roman"/>
              </a:rPr>
              <a:t>the</a:t>
            </a:r>
            <a:r>
              <a:rPr sz="2000" dirty="0">
                <a:latin typeface="Times New Roman"/>
                <a:cs typeface="Times New Roman"/>
              </a:rPr>
              <a:t>	</a:t>
            </a:r>
            <a:r>
              <a:rPr sz="2000" spc="-10" dirty="0">
                <a:latin typeface="Times New Roman"/>
                <a:cs typeface="Times New Roman"/>
              </a:rPr>
              <a:t>project</a:t>
            </a:r>
            <a:r>
              <a:rPr sz="2000" dirty="0">
                <a:latin typeface="Times New Roman"/>
                <a:cs typeface="Times New Roman"/>
              </a:rPr>
              <a:t>	</a:t>
            </a:r>
            <a:r>
              <a:rPr sz="2000" spc="-25" dirty="0">
                <a:latin typeface="Times New Roman"/>
                <a:cs typeface="Times New Roman"/>
              </a:rPr>
              <a:t>and</a:t>
            </a:r>
            <a:r>
              <a:rPr sz="2000" dirty="0">
                <a:latin typeface="Times New Roman"/>
                <a:cs typeface="Times New Roman"/>
              </a:rPr>
              <a:t>	</a:t>
            </a:r>
            <a:r>
              <a:rPr sz="2000" spc="-10" dirty="0">
                <a:latin typeface="Times New Roman"/>
                <a:cs typeface="Times New Roman"/>
              </a:rPr>
              <a:t>improvements</a:t>
            </a:r>
            <a:r>
              <a:rPr sz="2000" dirty="0">
                <a:latin typeface="Times New Roman"/>
                <a:cs typeface="Times New Roman"/>
              </a:rPr>
              <a:t>	</a:t>
            </a:r>
            <a:r>
              <a:rPr sz="2000" spc="-20" dirty="0">
                <a:latin typeface="Times New Roman"/>
                <a:cs typeface="Times New Roman"/>
              </a:rPr>
              <a:t>that </a:t>
            </a:r>
            <a:r>
              <a:rPr sz="2000" dirty="0">
                <a:latin typeface="Times New Roman"/>
                <a:cs typeface="Times New Roman"/>
              </a:rPr>
              <a:t>can</a:t>
            </a:r>
            <a:r>
              <a:rPr sz="2000" spc="-20" dirty="0">
                <a:latin typeface="Times New Roman"/>
                <a:cs typeface="Times New Roman"/>
              </a:rPr>
              <a:t> </a:t>
            </a:r>
            <a:r>
              <a:rPr sz="2000" dirty="0">
                <a:latin typeface="Times New Roman"/>
                <a:cs typeface="Times New Roman"/>
              </a:rPr>
              <a:t>be</a:t>
            </a:r>
            <a:r>
              <a:rPr sz="2000" spc="-25" dirty="0">
                <a:latin typeface="Times New Roman"/>
                <a:cs typeface="Times New Roman"/>
              </a:rPr>
              <a:t> </a:t>
            </a:r>
            <a:r>
              <a:rPr sz="2000" dirty="0">
                <a:latin typeface="Times New Roman"/>
                <a:cs typeface="Times New Roman"/>
              </a:rPr>
              <a:t>made</a:t>
            </a:r>
            <a:r>
              <a:rPr sz="2000" spc="-5" dirty="0">
                <a:latin typeface="Times New Roman"/>
                <a:cs typeface="Times New Roman"/>
              </a:rPr>
              <a:t> </a:t>
            </a:r>
            <a:r>
              <a:rPr sz="2000" dirty="0">
                <a:latin typeface="Times New Roman"/>
                <a:cs typeface="Times New Roman"/>
              </a:rPr>
              <a:t>for</a:t>
            </a:r>
            <a:r>
              <a:rPr sz="2000" spc="-35" dirty="0">
                <a:latin typeface="Times New Roman"/>
                <a:cs typeface="Times New Roman"/>
              </a:rPr>
              <a:t> </a:t>
            </a:r>
            <a:r>
              <a:rPr sz="2000" dirty="0">
                <a:latin typeface="Times New Roman"/>
                <a:cs typeface="Times New Roman"/>
              </a:rPr>
              <a:t>better</a:t>
            </a:r>
            <a:r>
              <a:rPr sz="2000" spc="-30" dirty="0">
                <a:latin typeface="Times New Roman"/>
                <a:cs typeface="Times New Roman"/>
              </a:rPr>
              <a:t> </a:t>
            </a:r>
            <a:r>
              <a:rPr sz="2000" dirty="0">
                <a:latin typeface="Times New Roman"/>
                <a:cs typeface="Times New Roman"/>
              </a:rPr>
              <a:t>performance/</a:t>
            </a:r>
            <a:r>
              <a:rPr sz="2000" spc="-35" dirty="0">
                <a:latin typeface="Times New Roman"/>
                <a:cs typeface="Times New Roman"/>
              </a:rPr>
              <a:t> </a:t>
            </a:r>
            <a:r>
              <a:rPr sz="2000" spc="-10" dirty="0">
                <a:latin typeface="Times New Roman"/>
                <a:cs typeface="Times New Roman"/>
              </a:rPr>
              <a:t>features</a:t>
            </a:r>
            <a:endParaRPr sz="2000" dirty="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300024" y="147319"/>
            <a:ext cx="11593195" cy="258404"/>
          </a:xfrm>
          <a:prstGeom prst="rect">
            <a:avLst/>
          </a:prstGeom>
        </p:spPr>
        <p:txBody>
          <a:bodyPr vert="horz" wrap="square" lIns="0" tIns="12065" rIns="0" bIns="0" rtlCol="0">
            <a:spAutoFit/>
          </a:bodyPr>
          <a:lstStyle/>
          <a:p>
            <a:pPr marL="12700">
              <a:lnSpc>
                <a:spcPct val="100000"/>
              </a:lnSpc>
              <a:spcBef>
                <a:spcPts val="95"/>
              </a:spcBef>
              <a:tabLst>
                <a:tab pos="10427335" algn="l"/>
              </a:tabLst>
            </a:pPr>
            <a:r>
              <a:rPr sz="1600" dirty="0">
                <a:latin typeface="Times New Roman"/>
                <a:cs typeface="Times New Roman"/>
              </a:rPr>
              <a:t>Batch</a:t>
            </a:r>
            <a:r>
              <a:rPr sz="1600" spc="-30" dirty="0">
                <a:latin typeface="Times New Roman"/>
                <a:cs typeface="Times New Roman"/>
              </a:rPr>
              <a:t> </a:t>
            </a:r>
            <a:r>
              <a:rPr sz="1600" spc="-10" dirty="0">
                <a:latin typeface="Times New Roman"/>
                <a:cs typeface="Times New Roman"/>
              </a:rPr>
              <a:t>No:</a:t>
            </a:r>
            <a:r>
              <a:rPr lang="en-US" sz="1600" spc="-10" dirty="0">
                <a:latin typeface="Times New Roman"/>
                <a:cs typeface="Times New Roman"/>
              </a:rPr>
              <a:t>2026B03                                                                                                                                                                                 </a:t>
            </a:r>
            <a:r>
              <a:rPr sz="1600" dirty="0">
                <a:latin typeface="Times New Roman"/>
                <a:cs typeface="Times New Roman"/>
              </a:rPr>
              <a:t>"</a:t>
            </a:r>
            <a:r>
              <a:rPr lang="en-US" sz="1600" dirty="0" err="1">
                <a:latin typeface="Times New Roman"/>
                <a:cs typeface="Times New Roman"/>
              </a:rPr>
              <a:t>AquaPredict</a:t>
            </a:r>
            <a:r>
              <a:rPr sz="1600" spc="-10" dirty="0">
                <a:latin typeface="Times New Roman"/>
                <a:cs typeface="Times New Roman"/>
              </a:rPr>
              <a:t>"</a:t>
            </a:r>
            <a:endParaRPr sz="1600" dirty="0">
              <a:latin typeface="Times New Roman"/>
              <a:cs typeface="Times New Roman"/>
            </a:endParaRPr>
          </a:p>
        </p:txBody>
      </p:sp>
      <p:sp>
        <p:nvSpPr>
          <p:cNvPr id="2" name="object 2" descr="$PPTXTitle"/>
          <p:cNvSpPr txBox="1">
            <a:spLocks noGrp="1"/>
          </p:cNvSpPr>
          <p:nvPr>
            <p:ph type="title"/>
          </p:nvPr>
        </p:nvSpPr>
        <p:spPr>
          <a:xfrm>
            <a:off x="5045202" y="528573"/>
            <a:ext cx="1727835" cy="574040"/>
          </a:xfrm>
          <a:prstGeom prst="rect">
            <a:avLst/>
          </a:prstGeom>
        </p:spPr>
        <p:txBody>
          <a:bodyPr vert="horz" wrap="square" lIns="0" tIns="12700" rIns="0" bIns="0" rtlCol="0">
            <a:spAutoFit/>
          </a:bodyPr>
          <a:lstStyle/>
          <a:p>
            <a:pPr marL="12700">
              <a:lnSpc>
                <a:spcPct val="100000"/>
              </a:lnSpc>
              <a:spcBef>
                <a:spcPts val="100"/>
              </a:spcBef>
            </a:pPr>
            <a:r>
              <a:rPr spc="-10" dirty="0"/>
              <a:t>Abstract</a:t>
            </a:r>
          </a:p>
        </p:txBody>
      </p:sp>
      <p:sp>
        <p:nvSpPr>
          <p:cNvPr id="3" name="object 3"/>
          <p:cNvSpPr txBox="1"/>
          <p:nvPr/>
        </p:nvSpPr>
        <p:spPr>
          <a:xfrm>
            <a:off x="830745" y="1524000"/>
            <a:ext cx="10530509" cy="3706784"/>
          </a:xfrm>
          <a:prstGeom prst="rect">
            <a:avLst/>
          </a:prstGeom>
        </p:spPr>
        <p:txBody>
          <a:bodyPr vert="horz" wrap="square" lIns="0" tIns="13335" rIns="0" bIns="0" rtlCol="0">
            <a:spAutoFit/>
          </a:bodyPr>
          <a:lstStyle/>
          <a:p>
            <a:pPr algn="just"/>
            <a:r>
              <a:rPr lang="en-IN" sz="2000" dirty="0">
                <a:latin typeface="Times New Roman" panose="02020603050405020304" pitchFamily="18" charset="0"/>
                <a:cs typeface="Times New Roman" panose="02020603050405020304" pitchFamily="18" charset="0"/>
              </a:rPr>
              <a:t>Rapid urbanization, population growth, climate variability, and ageing infrastructure pose significant challenges to efficient urban water management. This project proposes an AI-Based Urban Water Demand and Leakage Intelligence System for proactive water management. Historical water consumption, flow rate, pressure, and temperature data are pre-processed using cleaning, missing-value handling, normalization, and feature extraction techniques. An LSTM model forecasts future water demand and peak-demand periods, while machine learning and anomaly detection techniques identify potential pipeline leakages and estimate their severity. The system provides four key features: water demand forecasting, leakage detection alerts, GIS-based leakage mapping, and a zone risk dashboard for effective monitoring and decision-making.</a:t>
            </a:r>
          </a:p>
          <a:p>
            <a:pPr algn="ctr">
              <a:lnSpc>
                <a:spcPct val="100000"/>
              </a:lnSpc>
              <a:tabLst>
                <a:tab pos="342265" algn="l"/>
              </a:tabLst>
            </a:pPr>
            <a:endParaRPr lang="en-US" sz="2000" dirty="0">
              <a:latin typeface="Times New Roman"/>
              <a:cs typeface="Times New Roman"/>
            </a:endParaRPr>
          </a:p>
          <a:p>
            <a:pPr algn="just">
              <a:lnSpc>
                <a:spcPct val="100000"/>
              </a:lnSpc>
              <a:tabLst>
                <a:tab pos="342265" algn="l"/>
              </a:tabLst>
            </a:pPr>
            <a:r>
              <a:rPr sz="2000" b="1" dirty="0">
                <a:latin typeface="Times New Roman"/>
                <a:cs typeface="Times New Roman"/>
              </a:rPr>
              <a:t>Keywords:</a:t>
            </a:r>
            <a:r>
              <a:rPr lang="en-US" sz="2000" b="1" spc="265" dirty="0">
                <a:latin typeface="Times New Roman"/>
                <a:cs typeface="Times New Roman"/>
              </a:rPr>
              <a:t> </a:t>
            </a:r>
            <a:r>
              <a:rPr lang="en-IN" sz="2000" dirty="0">
                <a:latin typeface="Times New Roman" panose="02020603050405020304" pitchFamily="18" charset="0"/>
                <a:cs typeface="Times New Roman" panose="02020603050405020304" pitchFamily="18" charset="0"/>
              </a:rPr>
              <a:t>Artificial Intelligence (AI), Urban Water Management, Water Demand Forecasting, Leakage Detection, Machine Learning, LSTM, Anomaly Detection, GIS, Smart Water Management.</a:t>
            </a:r>
            <a:endParaRPr sz="2000" dirty="0">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00024" y="147319"/>
            <a:ext cx="11593195" cy="258404"/>
          </a:xfrm>
          <a:prstGeom prst="rect">
            <a:avLst/>
          </a:prstGeom>
        </p:spPr>
        <p:txBody>
          <a:bodyPr vert="horz" wrap="square" lIns="0" tIns="12065" rIns="0" bIns="0" rtlCol="0">
            <a:spAutoFit/>
          </a:bodyPr>
          <a:lstStyle/>
          <a:p>
            <a:pPr marL="12700">
              <a:lnSpc>
                <a:spcPct val="100000"/>
              </a:lnSpc>
              <a:spcBef>
                <a:spcPts val="95"/>
              </a:spcBef>
              <a:tabLst>
                <a:tab pos="10427335" algn="l"/>
              </a:tabLst>
            </a:pPr>
            <a:r>
              <a:rPr sz="1600" dirty="0">
                <a:latin typeface="Times New Roman"/>
                <a:cs typeface="Times New Roman"/>
              </a:rPr>
              <a:t>Batch</a:t>
            </a:r>
            <a:r>
              <a:rPr sz="1600" spc="-30" dirty="0">
                <a:latin typeface="Times New Roman"/>
                <a:cs typeface="Times New Roman"/>
              </a:rPr>
              <a:t> </a:t>
            </a:r>
            <a:r>
              <a:rPr sz="1600" spc="-10" dirty="0">
                <a:latin typeface="Times New Roman"/>
                <a:cs typeface="Times New Roman"/>
              </a:rPr>
              <a:t>No:</a:t>
            </a:r>
            <a:r>
              <a:rPr lang="en-US" sz="1600" spc="-10" dirty="0">
                <a:latin typeface="Times New Roman"/>
                <a:cs typeface="Times New Roman"/>
              </a:rPr>
              <a:t>2026B03                                                                                                                                                                                </a:t>
            </a:r>
            <a:r>
              <a:rPr sz="1600" dirty="0">
                <a:latin typeface="Times New Roman"/>
                <a:cs typeface="Times New Roman"/>
              </a:rPr>
              <a:t>"</a:t>
            </a:r>
            <a:r>
              <a:rPr lang="en-US" sz="1600" dirty="0" err="1">
                <a:latin typeface="Times New Roman"/>
                <a:cs typeface="Times New Roman"/>
              </a:rPr>
              <a:t>AquaPredict</a:t>
            </a:r>
            <a:r>
              <a:rPr sz="1600" spc="-10" dirty="0">
                <a:latin typeface="Times New Roman"/>
                <a:cs typeface="Times New Roman"/>
              </a:rPr>
              <a:t>"</a:t>
            </a:r>
            <a:endParaRPr sz="1600" dirty="0">
              <a:latin typeface="Times New Roman"/>
              <a:cs typeface="Times New Roman"/>
            </a:endParaRPr>
          </a:p>
        </p:txBody>
      </p:sp>
      <p:sp>
        <p:nvSpPr>
          <p:cNvPr id="2" name="object 2" descr="$PPTXTitle"/>
          <p:cNvSpPr txBox="1">
            <a:spLocks noGrp="1"/>
          </p:cNvSpPr>
          <p:nvPr>
            <p:ph type="title"/>
          </p:nvPr>
        </p:nvSpPr>
        <p:spPr>
          <a:xfrm>
            <a:off x="4267200" y="490287"/>
            <a:ext cx="2966720" cy="574675"/>
          </a:xfrm>
          <a:prstGeom prst="rect">
            <a:avLst/>
          </a:prstGeom>
        </p:spPr>
        <p:txBody>
          <a:bodyPr vert="horz" wrap="square" lIns="0" tIns="12700" rIns="0" bIns="0" rtlCol="0">
            <a:spAutoFit/>
          </a:bodyPr>
          <a:lstStyle/>
          <a:p>
            <a:pPr marL="12700">
              <a:lnSpc>
                <a:spcPct val="100000"/>
              </a:lnSpc>
              <a:spcBef>
                <a:spcPts val="100"/>
              </a:spcBef>
            </a:pPr>
            <a:r>
              <a:rPr dirty="0"/>
              <a:t>1. </a:t>
            </a:r>
            <a:r>
              <a:rPr spc="-10" dirty="0"/>
              <a:t>Introduction</a:t>
            </a:r>
          </a:p>
        </p:txBody>
      </p:sp>
      <p:sp>
        <p:nvSpPr>
          <p:cNvPr id="4" name="object 4"/>
          <p:cNvSpPr txBox="1"/>
          <p:nvPr/>
        </p:nvSpPr>
        <p:spPr>
          <a:xfrm>
            <a:off x="721042" y="1447800"/>
            <a:ext cx="10749915" cy="4286430"/>
          </a:xfrm>
          <a:prstGeom prst="rect">
            <a:avLst/>
          </a:prstGeom>
        </p:spPr>
        <p:txBody>
          <a:bodyPr vert="horz" wrap="square" lIns="0" tIns="13335" rIns="0" bIns="0" rtlCol="0">
            <a:spAutoFit/>
          </a:bodyPr>
          <a:lstStyle/>
          <a:p>
            <a:pPr marL="12700" marR="5080" algn="just">
              <a:lnSpc>
                <a:spcPct val="100000"/>
              </a:lnSpc>
              <a:spcBef>
                <a:spcPts val="105"/>
              </a:spcBef>
            </a:pPr>
            <a:r>
              <a:rPr lang="en-US" sz="2000" dirty="0">
                <a:latin typeface="Times New Roman"/>
                <a:cs typeface="Times New Roman"/>
              </a:rPr>
              <a:t>The AI-Based Urban Water Demand and Leakage Intelligence System is an intelligent framework that integrates deep learning, machine learning, and anomaly detection techniques to enable smart and proactive management of urban water resources</a:t>
            </a:r>
            <a:r>
              <a:rPr sz="2000" spc="-10" dirty="0">
                <a:latin typeface="Times New Roman"/>
                <a:cs typeface="Times New Roman"/>
              </a:rPr>
              <a:t>.</a:t>
            </a:r>
            <a:endParaRPr lang="en-US" sz="2000" spc="-10" dirty="0">
              <a:latin typeface="Times New Roman"/>
              <a:cs typeface="Times New Roman"/>
            </a:endParaRPr>
          </a:p>
          <a:p>
            <a:pPr marL="12700" marR="5080" algn="just">
              <a:lnSpc>
                <a:spcPct val="100000"/>
              </a:lnSpc>
              <a:spcBef>
                <a:spcPts val="105"/>
              </a:spcBef>
            </a:pPr>
            <a:endParaRPr lang="en-IN" sz="800" b="1" spc="-10" dirty="0">
              <a:latin typeface="Times New Roman"/>
              <a:cs typeface="Times New Roman"/>
            </a:endParaRPr>
          </a:p>
          <a:p>
            <a:pPr marL="12700" marR="5080" algn="just">
              <a:lnSpc>
                <a:spcPct val="100000"/>
              </a:lnSpc>
              <a:spcBef>
                <a:spcPts val="105"/>
              </a:spcBef>
            </a:pPr>
            <a:r>
              <a:rPr sz="2000" b="1" dirty="0">
                <a:latin typeface="Times New Roman"/>
                <a:cs typeface="Times New Roman"/>
              </a:rPr>
              <a:t>Key</a:t>
            </a:r>
            <a:r>
              <a:rPr sz="2000" b="1" spc="-15" dirty="0">
                <a:latin typeface="Times New Roman"/>
                <a:cs typeface="Times New Roman"/>
              </a:rPr>
              <a:t> </a:t>
            </a:r>
            <a:r>
              <a:rPr sz="2000" b="1" spc="-10" dirty="0">
                <a:latin typeface="Times New Roman"/>
                <a:cs typeface="Times New Roman"/>
              </a:rPr>
              <a:t>Features:</a:t>
            </a:r>
            <a:endParaRPr sz="2000" dirty="0">
              <a:latin typeface="Times New Roman"/>
              <a:cs typeface="Times New Roman"/>
            </a:endParaRPr>
          </a:p>
          <a:p>
            <a:pPr marL="354965" indent="-342265" algn="just">
              <a:lnSpc>
                <a:spcPct val="100000"/>
              </a:lnSpc>
              <a:buFont typeface="Arial MT"/>
              <a:buChar char="•"/>
              <a:tabLst>
                <a:tab pos="354965" algn="l"/>
              </a:tabLst>
            </a:pPr>
            <a:r>
              <a:rPr lang="en-IN" sz="2000" dirty="0">
                <a:latin typeface="Times New Roman"/>
                <a:cs typeface="Times New Roman"/>
              </a:rPr>
              <a:t>LSTM-based deep learning model for forecasting future water demand and peak-demand periods.</a:t>
            </a:r>
          </a:p>
          <a:p>
            <a:pPr marL="354965" indent="-342265" algn="just">
              <a:lnSpc>
                <a:spcPct val="100000"/>
              </a:lnSpc>
              <a:buFont typeface="Arial MT"/>
              <a:buChar char="•"/>
              <a:tabLst>
                <a:tab pos="354965" algn="l"/>
              </a:tabLst>
            </a:pPr>
            <a:r>
              <a:rPr lang="en-IN" sz="2000" dirty="0">
                <a:latin typeface="Times New Roman"/>
                <a:cs typeface="Times New Roman"/>
              </a:rPr>
              <a:t>Machine learning and anomaly detection techniques to identify potential pipeline leakages.</a:t>
            </a:r>
          </a:p>
          <a:p>
            <a:pPr marL="354965" indent="-342265" algn="just">
              <a:lnSpc>
                <a:spcPct val="100000"/>
              </a:lnSpc>
              <a:buFont typeface="Arial MT"/>
              <a:buChar char="•"/>
              <a:tabLst>
                <a:tab pos="354965" algn="l"/>
              </a:tabLst>
            </a:pPr>
            <a:r>
              <a:rPr lang="en-IN" sz="2000" dirty="0">
                <a:latin typeface="Times New Roman"/>
                <a:cs typeface="Times New Roman"/>
              </a:rPr>
              <a:t>Estimation of leakage probability and severity for timely prioritization of water losses.</a:t>
            </a:r>
          </a:p>
          <a:p>
            <a:pPr marL="354965" indent="-342265" algn="just">
              <a:lnSpc>
                <a:spcPct val="100000"/>
              </a:lnSpc>
              <a:buFont typeface="Arial MT"/>
              <a:buChar char="•"/>
              <a:tabLst>
                <a:tab pos="354965" algn="l"/>
              </a:tabLst>
            </a:pPr>
            <a:r>
              <a:rPr lang="en-IN" sz="2000" dirty="0">
                <a:latin typeface="Times New Roman"/>
                <a:cs typeface="Times New Roman"/>
              </a:rPr>
              <a:t>Interactive dashboard presenting water demand forecast, leakage detection alert, GIS map-leakage view, zone risk dashboard.</a:t>
            </a:r>
          </a:p>
          <a:p>
            <a:pPr marL="354965" indent="-342265" algn="just">
              <a:lnSpc>
                <a:spcPct val="100000"/>
              </a:lnSpc>
              <a:buFont typeface="Arial MT"/>
              <a:buChar char="•"/>
              <a:tabLst>
                <a:tab pos="354965" algn="l"/>
              </a:tabLst>
            </a:pPr>
            <a:endParaRPr lang="en-IN" sz="800" b="1" spc="-10" dirty="0">
              <a:latin typeface="Times New Roman"/>
              <a:cs typeface="Times New Roman"/>
            </a:endParaRPr>
          </a:p>
          <a:p>
            <a:pPr marL="12700" algn="just">
              <a:lnSpc>
                <a:spcPct val="100000"/>
              </a:lnSpc>
              <a:tabLst>
                <a:tab pos="354965" algn="l"/>
              </a:tabLst>
            </a:pPr>
            <a:r>
              <a:rPr sz="2000" b="1" spc="-10" dirty="0">
                <a:latin typeface="Times New Roman"/>
                <a:cs typeface="Times New Roman"/>
              </a:rPr>
              <a:t>Scope:</a:t>
            </a:r>
            <a:endParaRPr sz="2000" dirty="0">
              <a:latin typeface="Times New Roman"/>
              <a:cs typeface="Times New Roman"/>
            </a:endParaRPr>
          </a:p>
          <a:p>
            <a:pPr marL="12700" algn="just">
              <a:lnSpc>
                <a:spcPct val="100000"/>
              </a:lnSpc>
            </a:pPr>
            <a:r>
              <a:rPr lang="en-US" sz="2000" dirty="0">
                <a:latin typeface="Times New Roman"/>
                <a:cs typeface="Times New Roman"/>
              </a:rPr>
              <a:t>The system supports timely maintenance, improved water distribution planning, and efficient utilization of urban water resources, providing a practical and scalable approach to intelligent urban water management.</a:t>
            </a:r>
            <a:endParaRPr sz="20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72592" y="147319"/>
            <a:ext cx="3080208" cy="258404"/>
          </a:xfrm>
          <a:prstGeom prst="rect">
            <a:avLst/>
          </a:prstGeom>
        </p:spPr>
        <p:txBody>
          <a:bodyPr vert="horz" wrap="square" lIns="0" tIns="12065" rIns="0" bIns="0" rtlCol="0">
            <a:spAutoFit/>
          </a:bodyPr>
          <a:lstStyle/>
          <a:p>
            <a:pPr marL="12700">
              <a:lnSpc>
                <a:spcPct val="100000"/>
              </a:lnSpc>
              <a:spcBef>
                <a:spcPts val="95"/>
              </a:spcBef>
            </a:pPr>
            <a:r>
              <a:rPr sz="1600" dirty="0">
                <a:latin typeface="Times New Roman"/>
                <a:cs typeface="Times New Roman"/>
              </a:rPr>
              <a:t>Batch</a:t>
            </a:r>
            <a:r>
              <a:rPr sz="1600" spc="-30" dirty="0">
                <a:latin typeface="Times New Roman"/>
                <a:cs typeface="Times New Roman"/>
              </a:rPr>
              <a:t> </a:t>
            </a:r>
            <a:r>
              <a:rPr sz="1600" spc="-10" dirty="0">
                <a:latin typeface="Times New Roman"/>
                <a:cs typeface="Times New Roman"/>
              </a:rPr>
              <a:t>No:</a:t>
            </a:r>
            <a:r>
              <a:rPr lang="en-US" sz="1600" spc="-10" dirty="0">
                <a:latin typeface="Times New Roman"/>
                <a:cs typeface="Times New Roman"/>
              </a:rPr>
              <a:t>2026B03</a:t>
            </a:r>
            <a:endParaRPr sz="1600" dirty="0">
              <a:latin typeface="Times New Roman"/>
              <a:cs typeface="Times New Roman"/>
            </a:endParaRPr>
          </a:p>
        </p:txBody>
      </p:sp>
      <p:sp>
        <p:nvSpPr>
          <p:cNvPr id="4" name="object 4"/>
          <p:cNvSpPr txBox="1"/>
          <p:nvPr/>
        </p:nvSpPr>
        <p:spPr>
          <a:xfrm>
            <a:off x="10687304" y="147319"/>
            <a:ext cx="1233170" cy="258404"/>
          </a:xfrm>
          <a:prstGeom prst="rect">
            <a:avLst/>
          </a:prstGeom>
        </p:spPr>
        <p:txBody>
          <a:bodyPr vert="horz" wrap="square" lIns="0" tIns="12065" rIns="0" bIns="0" rtlCol="0">
            <a:spAutoFit/>
          </a:bodyPr>
          <a:lstStyle/>
          <a:p>
            <a:pPr marL="12700">
              <a:lnSpc>
                <a:spcPct val="100000"/>
              </a:lnSpc>
              <a:spcBef>
                <a:spcPts val="95"/>
              </a:spcBef>
            </a:pPr>
            <a:r>
              <a:rPr sz="1600" dirty="0">
                <a:latin typeface="Times New Roman"/>
                <a:cs typeface="Times New Roman"/>
              </a:rPr>
              <a:t>"</a:t>
            </a:r>
            <a:r>
              <a:rPr lang="en-US" sz="1600" spc="-35" dirty="0" err="1">
                <a:latin typeface="Times New Roman"/>
                <a:cs typeface="Times New Roman"/>
              </a:rPr>
              <a:t>AquaPredict</a:t>
            </a:r>
            <a:r>
              <a:rPr sz="1600" spc="-50" dirty="0">
                <a:latin typeface="Times New Roman"/>
                <a:cs typeface="Times New Roman"/>
              </a:rPr>
              <a:t>"</a:t>
            </a:r>
            <a:endParaRPr sz="1600" dirty="0">
              <a:latin typeface="Times New Roman"/>
              <a:cs typeface="Times New Roman"/>
            </a:endParaRPr>
          </a:p>
        </p:txBody>
      </p:sp>
      <p:sp>
        <p:nvSpPr>
          <p:cNvPr id="2" name="object 2" descr="$PPTXTitle"/>
          <p:cNvSpPr txBox="1">
            <a:spLocks noGrp="1"/>
          </p:cNvSpPr>
          <p:nvPr>
            <p:ph type="title"/>
          </p:nvPr>
        </p:nvSpPr>
        <p:spPr>
          <a:xfrm>
            <a:off x="3962400" y="533400"/>
            <a:ext cx="3992879" cy="574040"/>
          </a:xfrm>
          <a:prstGeom prst="rect">
            <a:avLst/>
          </a:prstGeom>
        </p:spPr>
        <p:txBody>
          <a:bodyPr vert="horz" wrap="square" lIns="0" tIns="12700" rIns="0" bIns="0" rtlCol="0">
            <a:spAutoFit/>
          </a:bodyPr>
          <a:lstStyle/>
          <a:p>
            <a:pPr marL="12700">
              <a:lnSpc>
                <a:spcPct val="100000"/>
              </a:lnSpc>
              <a:spcBef>
                <a:spcPts val="100"/>
              </a:spcBef>
            </a:pPr>
            <a:r>
              <a:rPr dirty="0"/>
              <a:t>2.</a:t>
            </a:r>
            <a:r>
              <a:rPr spc="-65" dirty="0"/>
              <a:t> </a:t>
            </a:r>
            <a:r>
              <a:rPr spc="-10" dirty="0"/>
              <a:t>Literature</a:t>
            </a:r>
            <a:r>
              <a:rPr spc="-65" dirty="0"/>
              <a:t> </a:t>
            </a:r>
            <a:r>
              <a:rPr spc="-10" dirty="0"/>
              <a:t>Survey</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5</a:t>
            </a:fld>
            <a:endParaRPr spc="-25" dirty="0"/>
          </a:p>
        </p:txBody>
      </p:sp>
      <p:graphicFrame>
        <p:nvGraphicFramePr>
          <p:cNvPr id="9" name="Table 8">
            <a:extLst>
              <a:ext uri="{FF2B5EF4-FFF2-40B4-BE49-F238E27FC236}">
                <a16:creationId xmlns:a16="http://schemas.microsoft.com/office/drawing/2014/main" id="{B6BDF22E-6A64-78CB-656B-1337F2F9FC1A}"/>
              </a:ext>
            </a:extLst>
          </p:cNvPr>
          <p:cNvGraphicFramePr>
            <a:graphicFrameLocks noGrp="1"/>
          </p:cNvGraphicFramePr>
          <p:nvPr>
            <p:extLst>
              <p:ext uri="{D42A27DB-BD31-4B8C-83A1-F6EECF244321}">
                <p14:modId xmlns:p14="http://schemas.microsoft.com/office/powerpoint/2010/main" val="2310991276"/>
              </p:ext>
            </p:extLst>
          </p:nvPr>
        </p:nvGraphicFramePr>
        <p:xfrm>
          <a:off x="457200" y="1371600"/>
          <a:ext cx="11353800" cy="4998472"/>
        </p:xfrm>
        <a:graphic>
          <a:graphicData uri="http://schemas.openxmlformats.org/drawingml/2006/table">
            <a:tbl>
              <a:tblPr firstRow="1" bandRow="1">
                <a:tableStyleId>{5C22544A-7EE6-4342-B048-85BDC9FD1C3A}</a:tableStyleId>
              </a:tblPr>
              <a:tblGrid>
                <a:gridCol w="2270760">
                  <a:extLst>
                    <a:ext uri="{9D8B030D-6E8A-4147-A177-3AD203B41FA5}">
                      <a16:colId xmlns:a16="http://schemas.microsoft.com/office/drawing/2014/main" val="353428269"/>
                    </a:ext>
                  </a:extLst>
                </a:gridCol>
                <a:gridCol w="2270760">
                  <a:extLst>
                    <a:ext uri="{9D8B030D-6E8A-4147-A177-3AD203B41FA5}">
                      <a16:colId xmlns:a16="http://schemas.microsoft.com/office/drawing/2014/main" val="3511692904"/>
                    </a:ext>
                  </a:extLst>
                </a:gridCol>
                <a:gridCol w="2270760">
                  <a:extLst>
                    <a:ext uri="{9D8B030D-6E8A-4147-A177-3AD203B41FA5}">
                      <a16:colId xmlns:a16="http://schemas.microsoft.com/office/drawing/2014/main" val="3565892467"/>
                    </a:ext>
                  </a:extLst>
                </a:gridCol>
                <a:gridCol w="2270760">
                  <a:extLst>
                    <a:ext uri="{9D8B030D-6E8A-4147-A177-3AD203B41FA5}">
                      <a16:colId xmlns:a16="http://schemas.microsoft.com/office/drawing/2014/main" val="2327834136"/>
                    </a:ext>
                  </a:extLst>
                </a:gridCol>
                <a:gridCol w="2270760">
                  <a:extLst>
                    <a:ext uri="{9D8B030D-6E8A-4147-A177-3AD203B41FA5}">
                      <a16:colId xmlns:a16="http://schemas.microsoft.com/office/drawing/2014/main" val="1044888111"/>
                    </a:ext>
                  </a:extLst>
                </a:gridCol>
              </a:tblGrid>
              <a:tr h="767925">
                <a:tc>
                  <a:txBody>
                    <a:bodyPr/>
                    <a:lstStyle/>
                    <a:p>
                      <a:r>
                        <a:rPr lang="en-US" dirty="0">
                          <a:latin typeface="Times New Roman" panose="02020603050405020304" pitchFamily="18" charset="0"/>
                          <a:cs typeface="Times New Roman" panose="02020603050405020304" pitchFamily="18" charset="0"/>
                        </a:rPr>
                        <a:t>PAPER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FEATURES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DATASET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RESULTS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90722341"/>
                  </a:ext>
                </a:extLst>
              </a:tr>
              <a:tr h="1883370">
                <a:tc>
                  <a:txBody>
                    <a:bodyPr/>
                    <a:lstStyle/>
                    <a:p>
                      <a:r>
                        <a:rPr lang="en-IN" dirty="0">
                          <a:latin typeface="Times New Roman" panose="02020603050405020304" pitchFamily="18" charset="0"/>
                          <a:cs typeface="Times New Roman" panose="02020603050405020304" pitchFamily="18" charset="0"/>
                        </a:rPr>
                        <a:t>Paper [1]</a:t>
                      </a:r>
                    </a:p>
                    <a:p>
                      <a:r>
                        <a:rPr lang="en-IN" dirty="0" err="1">
                          <a:latin typeface="Times New Roman" panose="02020603050405020304" pitchFamily="18" charset="0"/>
                          <a:cs typeface="Times New Roman" panose="02020603050405020304" pitchFamily="18" charset="0"/>
                        </a:rPr>
                        <a:t>Maußner</a:t>
                      </a:r>
                      <a:r>
                        <a:rPr lang="en-IN" dirty="0">
                          <a:latin typeface="Times New Roman" panose="02020603050405020304" pitchFamily="18" charset="0"/>
                          <a:cs typeface="Times New Roman" panose="02020603050405020304" pitchFamily="18" charset="0"/>
                        </a:rPr>
                        <a:t> et al. (2025)</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ML models incl.</a:t>
                      </a:r>
                    </a:p>
                    <a:p>
                      <a:pPr marL="0" indent="0">
                        <a:buFont typeface="Arial" panose="020B0604020202020204" pitchFamily="34" charset="0"/>
                        <a:buNone/>
                      </a:pPr>
                      <a:r>
                        <a:rPr lang="en-IN" dirty="0">
                          <a:latin typeface="Times New Roman" panose="02020603050405020304" pitchFamily="18" charset="0"/>
                          <a:cs typeface="Times New Roman" panose="02020603050405020304" pitchFamily="18" charset="0"/>
                        </a:rPr>
                        <a:t>      LSTM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XAI techniques</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Demand forecasting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Explainability</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Water demand + weather data</a:t>
                      </a:r>
                    </a:p>
                  </a:txBody>
                  <a:tcPr/>
                </a:tc>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Compared accuracy, reliability &amp; explainability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LSTM captured temporal patterns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4760674"/>
                  </a:ext>
                </a:extLst>
              </a:tr>
              <a:tr h="1036537">
                <a:tc>
                  <a:txBody>
                    <a:bodyPr/>
                    <a:lstStyle/>
                    <a:p>
                      <a:r>
                        <a:rPr lang="en-IN" dirty="0">
                          <a:latin typeface="Times New Roman" panose="02020603050405020304" pitchFamily="18" charset="0"/>
                          <a:cs typeface="Times New Roman" panose="02020603050405020304" pitchFamily="18" charset="0"/>
                        </a:rPr>
                        <a:t>Paper [2]</a:t>
                      </a:r>
                    </a:p>
                    <a:p>
                      <a:r>
                        <a:rPr lang="en-IN" dirty="0">
                          <a:latin typeface="Times New Roman" panose="02020603050405020304" pitchFamily="18" charset="0"/>
                          <a:cs typeface="Times New Roman" panose="02020603050405020304" pitchFamily="18" charset="0"/>
                        </a:rPr>
                        <a:t>Barrientos-Torres et al. (2026)</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Wavelet Scattering</a:t>
                      </a:r>
                    </a:p>
                    <a:p>
                      <a:pPr marL="0" indent="0">
                        <a:buFont typeface="Arial" panose="020B0604020202020204" pitchFamily="34" charset="0"/>
                        <a:buNone/>
                      </a:pPr>
                      <a:r>
                        <a:rPr lang="en-IN" dirty="0">
                          <a:latin typeface="Times New Roman" panose="02020603050405020304" pitchFamily="18" charset="0"/>
                          <a:cs typeface="Times New Roman" panose="02020603050405020304" pitchFamily="18" charset="0"/>
                        </a:rPr>
                        <a:t>      Transform</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SVM</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Leakage detection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Feature extraction</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Pressure, acceleration &amp; hydrophone data</a:t>
                      </a:r>
                    </a:p>
                    <a:p>
                      <a:pPr marL="285750" indent="-285750">
                        <a:buFont typeface="Arial" panose="020B0604020202020204" pitchFamily="34" charset="0"/>
                        <a:buChar char="•"/>
                      </a:pPr>
                      <a:endParaRPr lang="en-IN" sz="8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99.16% accuracy</a:t>
                      </a:r>
                    </a:p>
                  </a:txBody>
                  <a:tcPr/>
                </a:tc>
                <a:extLst>
                  <a:ext uri="{0D108BD9-81ED-4DB2-BD59-A6C34878D82A}">
                    <a16:rowId xmlns:a16="http://schemas.microsoft.com/office/drawing/2014/main" val="3900480040"/>
                  </a:ext>
                </a:extLst>
              </a:tr>
              <a:tr h="1188968">
                <a:tc>
                  <a:txBody>
                    <a:bodyPr/>
                    <a:lstStyle/>
                    <a:p>
                      <a:r>
                        <a:rPr lang="en-IN" dirty="0">
                          <a:latin typeface="Times New Roman" panose="02020603050405020304" pitchFamily="18" charset="0"/>
                          <a:cs typeface="Times New Roman" panose="02020603050405020304" pitchFamily="18" charset="0"/>
                        </a:rPr>
                        <a:t>Paper[3]</a:t>
                      </a:r>
                    </a:p>
                    <a:p>
                      <a:r>
                        <a:rPr lang="en-IN" dirty="0">
                          <a:latin typeface="Times New Roman" panose="02020603050405020304" pitchFamily="18" charset="0"/>
                          <a:cs typeface="Times New Roman" panose="02020603050405020304" pitchFamily="18" charset="0"/>
                        </a:rPr>
                        <a:t>Ramachandran et al. (2025)</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TS2Vec + </a:t>
                      </a:r>
                      <a:r>
                        <a:rPr lang="en-IN" dirty="0" err="1">
                          <a:latin typeface="Times New Roman" panose="02020603050405020304" pitchFamily="18" charset="0"/>
                          <a:cs typeface="Times New Roman" panose="02020603050405020304" pitchFamily="18" charset="0"/>
                        </a:rPr>
                        <a:t>KMeans</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CNN + Cross Attention</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Demand forecasting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Consumer behaviour analysis</a:t>
                      </a:r>
                    </a:p>
                    <a:p>
                      <a:pPr marL="285750" indent="-285750">
                        <a:buFont typeface="Arial" panose="020B0604020202020204" pitchFamily="34" charset="0"/>
                        <a:buChar char="•"/>
                      </a:pPr>
                      <a:endParaRPr lang="en-IN" sz="8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Real-world DMA smart-meter data</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Up to 4.9% MAPE improvement</a:t>
                      </a:r>
                    </a:p>
                  </a:txBody>
                  <a:tcPr/>
                </a:tc>
                <a:extLst>
                  <a:ext uri="{0D108BD9-81ED-4DB2-BD59-A6C34878D82A}">
                    <a16:rowId xmlns:a16="http://schemas.microsoft.com/office/drawing/2014/main" val="36865703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00024" y="147319"/>
            <a:ext cx="2747976" cy="258404"/>
          </a:xfrm>
          <a:prstGeom prst="rect">
            <a:avLst/>
          </a:prstGeom>
        </p:spPr>
        <p:txBody>
          <a:bodyPr vert="horz" wrap="square" lIns="0" tIns="12065" rIns="0" bIns="0" rtlCol="0">
            <a:spAutoFit/>
          </a:bodyPr>
          <a:lstStyle/>
          <a:p>
            <a:pPr marL="12700">
              <a:lnSpc>
                <a:spcPct val="100000"/>
              </a:lnSpc>
              <a:spcBef>
                <a:spcPts val="95"/>
              </a:spcBef>
            </a:pPr>
            <a:r>
              <a:rPr sz="1600" dirty="0">
                <a:latin typeface="Times New Roman"/>
                <a:cs typeface="Times New Roman"/>
              </a:rPr>
              <a:t>Batch</a:t>
            </a:r>
            <a:r>
              <a:rPr sz="1600" spc="-30" dirty="0">
                <a:latin typeface="Times New Roman"/>
                <a:cs typeface="Times New Roman"/>
              </a:rPr>
              <a:t> </a:t>
            </a:r>
            <a:r>
              <a:rPr sz="1600" spc="-10" dirty="0">
                <a:latin typeface="Times New Roman"/>
                <a:cs typeface="Times New Roman"/>
              </a:rPr>
              <a:t>No:</a:t>
            </a:r>
            <a:r>
              <a:rPr lang="en-US" sz="1600" spc="-10" dirty="0">
                <a:latin typeface="Times New Roman"/>
                <a:cs typeface="Times New Roman"/>
              </a:rPr>
              <a:t>2026B03</a:t>
            </a:r>
            <a:endParaRPr sz="1600" dirty="0">
              <a:latin typeface="Times New Roman"/>
              <a:cs typeface="Times New Roman"/>
            </a:endParaRPr>
          </a:p>
        </p:txBody>
      </p:sp>
      <p:sp>
        <p:nvSpPr>
          <p:cNvPr id="4" name="object 4"/>
          <p:cNvSpPr txBox="1"/>
          <p:nvPr/>
        </p:nvSpPr>
        <p:spPr>
          <a:xfrm>
            <a:off x="10590481" y="147319"/>
            <a:ext cx="1301495" cy="258404"/>
          </a:xfrm>
          <a:prstGeom prst="rect">
            <a:avLst/>
          </a:prstGeom>
        </p:spPr>
        <p:txBody>
          <a:bodyPr vert="horz" wrap="square" lIns="0" tIns="12065" rIns="0" bIns="0" rtlCol="0">
            <a:spAutoFit/>
          </a:bodyPr>
          <a:lstStyle/>
          <a:p>
            <a:pPr marL="12700">
              <a:lnSpc>
                <a:spcPct val="100000"/>
              </a:lnSpc>
              <a:spcBef>
                <a:spcPts val="95"/>
              </a:spcBef>
            </a:pPr>
            <a:r>
              <a:rPr sz="1600" dirty="0">
                <a:latin typeface="Times New Roman"/>
                <a:cs typeface="Times New Roman"/>
              </a:rPr>
              <a:t>"</a:t>
            </a:r>
            <a:r>
              <a:rPr lang="en-US" sz="1600" dirty="0" err="1">
                <a:latin typeface="Times New Roman"/>
                <a:cs typeface="Times New Roman"/>
              </a:rPr>
              <a:t>AquaPredict</a:t>
            </a:r>
            <a:r>
              <a:rPr sz="1600" spc="-10" dirty="0">
                <a:latin typeface="Times New Roman"/>
                <a:cs typeface="Times New Roman"/>
              </a:rPr>
              <a:t>"</a:t>
            </a:r>
            <a:endParaRPr sz="1600" dirty="0">
              <a:latin typeface="Times New Roman"/>
              <a:cs typeface="Times New Roman"/>
            </a:endParaRPr>
          </a:p>
        </p:txBody>
      </p:sp>
      <p:sp>
        <p:nvSpPr>
          <p:cNvPr id="2" name="object 2" descr="$PPTXTitle"/>
          <p:cNvSpPr txBox="1">
            <a:spLocks noGrp="1"/>
          </p:cNvSpPr>
          <p:nvPr>
            <p:ph type="title"/>
          </p:nvPr>
        </p:nvSpPr>
        <p:spPr>
          <a:xfrm>
            <a:off x="3583304" y="525271"/>
            <a:ext cx="4246245" cy="574040"/>
          </a:xfrm>
          <a:prstGeom prst="rect">
            <a:avLst/>
          </a:prstGeom>
        </p:spPr>
        <p:txBody>
          <a:bodyPr vert="horz" wrap="square" lIns="0" tIns="12700" rIns="0" bIns="0" rtlCol="0">
            <a:spAutoFit/>
          </a:bodyPr>
          <a:lstStyle/>
          <a:p>
            <a:pPr marL="12700">
              <a:lnSpc>
                <a:spcPct val="100000"/>
              </a:lnSpc>
              <a:spcBef>
                <a:spcPts val="100"/>
              </a:spcBef>
            </a:pPr>
            <a:r>
              <a:rPr dirty="0"/>
              <a:t>3.</a:t>
            </a:r>
            <a:r>
              <a:rPr spc="-100" dirty="0"/>
              <a:t> </a:t>
            </a:r>
            <a:r>
              <a:rPr dirty="0"/>
              <a:t>Problem</a:t>
            </a:r>
            <a:r>
              <a:rPr spc="-100" dirty="0"/>
              <a:t> </a:t>
            </a:r>
            <a:r>
              <a:rPr spc="-10" dirty="0"/>
              <a:t>Statement</a:t>
            </a:r>
          </a:p>
        </p:txBody>
      </p:sp>
      <p:sp>
        <p:nvSpPr>
          <p:cNvPr id="5" name="object 5"/>
          <p:cNvSpPr txBox="1"/>
          <p:nvPr/>
        </p:nvSpPr>
        <p:spPr>
          <a:xfrm>
            <a:off x="816279" y="1371600"/>
            <a:ext cx="10559441" cy="4606389"/>
          </a:xfrm>
          <a:prstGeom prst="rect">
            <a:avLst/>
          </a:prstGeom>
        </p:spPr>
        <p:txBody>
          <a:bodyPr vert="horz" wrap="square" lIns="0" tIns="134620" rIns="0" bIns="0" rtlCol="0">
            <a:spAutoFit/>
          </a:bodyPr>
          <a:lstStyle/>
          <a:p>
            <a:pPr marL="12700">
              <a:lnSpc>
                <a:spcPct val="100000"/>
              </a:lnSpc>
              <a:spcBef>
                <a:spcPts val="1060"/>
              </a:spcBef>
            </a:pPr>
            <a:r>
              <a:rPr sz="2000" b="1" dirty="0">
                <a:latin typeface="Times New Roman"/>
                <a:cs typeface="Times New Roman"/>
              </a:rPr>
              <a:t>Gaps</a:t>
            </a:r>
            <a:r>
              <a:rPr sz="2000" b="1" spc="-35" dirty="0">
                <a:latin typeface="Times New Roman"/>
                <a:cs typeface="Times New Roman"/>
              </a:rPr>
              <a:t> </a:t>
            </a:r>
            <a:r>
              <a:rPr sz="2000" b="1" dirty="0">
                <a:latin typeface="Times New Roman"/>
                <a:cs typeface="Times New Roman"/>
              </a:rPr>
              <a:t>in</a:t>
            </a:r>
            <a:r>
              <a:rPr sz="2000" b="1" spc="-5" dirty="0">
                <a:latin typeface="Times New Roman"/>
                <a:cs typeface="Times New Roman"/>
              </a:rPr>
              <a:t> </a:t>
            </a:r>
            <a:r>
              <a:rPr sz="2000" b="1" dirty="0">
                <a:latin typeface="Times New Roman"/>
                <a:cs typeface="Times New Roman"/>
              </a:rPr>
              <a:t>Existing</a:t>
            </a:r>
            <a:r>
              <a:rPr sz="2000" b="1" spc="-30" dirty="0">
                <a:latin typeface="Times New Roman"/>
                <a:cs typeface="Times New Roman"/>
              </a:rPr>
              <a:t> </a:t>
            </a:r>
            <a:r>
              <a:rPr sz="2000" b="1" spc="-10" dirty="0">
                <a:latin typeface="Times New Roman"/>
                <a:cs typeface="Times New Roman"/>
              </a:rPr>
              <a:t>Systems</a:t>
            </a:r>
            <a:r>
              <a:rPr sz="2000" spc="-10" dirty="0">
                <a:latin typeface="Times New Roman"/>
                <a:cs typeface="Times New Roman"/>
              </a:rPr>
              <a:t>:</a:t>
            </a:r>
            <a:endParaRPr lang="en-US" sz="2000" spc="-10" dirty="0">
              <a:latin typeface="Times New Roman"/>
              <a:cs typeface="Times New Roman"/>
            </a:endParaRPr>
          </a:p>
          <a:p>
            <a:pPr marL="12700">
              <a:lnSpc>
                <a:spcPct val="100000"/>
              </a:lnSpc>
              <a:spcBef>
                <a:spcPts val="1060"/>
              </a:spcBef>
            </a:pPr>
            <a:endParaRPr sz="100" dirty="0">
              <a:latin typeface="Times New Roman"/>
              <a:cs typeface="Times New Roman"/>
            </a:endParaRPr>
          </a:p>
          <a:p>
            <a:pPr marL="164465" indent="-151765">
              <a:lnSpc>
                <a:spcPct val="100000"/>
              </a:lnSpc>
              <a:buChar char="•"/>
              <a:tabLst>
                <a:tab pos="164465" algn="l"/>
              </a:tabLst>
            </a:pPr>
            <a:r>
              <a:rPr lang="en-US" sz="2000" dirty="0">
                <a:latin typeface="Times New Roman"/>
                <a:cs typeface="Times New Roman"/>
              </a:rPr>
              <a:t>Reactive, threshold-based leak detection with high false positives or negatives.</a:t>
            </a:r>
          </a:p>
          <a:p>
            <a:pPr marL="164465" indent="-151765">
              <a:lnSpc>
                <a:spcPct val="100000"/>
              </a:lnSpc>
              <a:buChar char="•"/>
              <a:tabLst>
                <a:tab pos="164465" algn="l"/>
              </a:tabLst>
            </a:pPr>
            <a:r>
              <a:rPr lang="en-US" sz="2000" dirty="0">
                <a:latin typeface="Times New Roman"/>
                <a:cs typeface="Times New Roman"/>
              </a:rPr>
              <a:t>Poor demand forecasting accuracy during peak periods.</a:t>
            </a:r>
          </a:p>
          <a:p>
            <a:pPr marL="164465" indent="-151765">
              <a:lnSpc>
                <a:spcPct val="100000"/>
              </a:lnSpc>
              <a:buChar char="•"/>
              <a:tabLst>
                <a:tab pos="164465" algn="l"/>
              </a:tabLst>
            </a:pPr>
            <a:r>
              <a:rPr lang="en-US" sz="2000" dirty="0">
                <a:latin typeface="Times New Roman"/>
                <a:cs typeface="Times New Roman"/>
              </a:rPr>
              <a:t>Limited generalization due to scarce real-world leak data.</a:t>
            </a:r>
          </a:p>
          <a:p>
            <a:pPr marL="164465" indent="-151765">
              <a:lnSpc>
                <a:spcPct val="100000"/>
              </a:lnSpc>
              <a:buChar char="•"/>
              <a:tabLst>
                <a:tab pos="164465" algn="l"/>
              </a:tabLst>
            </a:pPr>
            <a:r>
              <a:rPr lang="en-US" sz="2000" dirty="0">
                <a:latin typeface="Times New Roman"/>
                <a:cs typeface="Times New Roman"/>
              </a:rPr>
              <a:t>No leak severity estimation or spatial localization.</a:t>
            </a:r>
          </a:p>
          <a:p>
            <a:pPr marL="164465" indent="-151765">
              <a:lnSpc>
                <a:spcPct val="100000"/>
              </a:lnSpc>
              <a:buChar char="•"/>
              <a:tabLst>
                <a:tab pos="164465" algn="l"/>
              </a:tabLst>
            </a:pPr>
            <a:r>
              <a:rPr lang="en-US" sz="2000" dirty="0">
                <a:latin typeface="Times New Roman"/>
                <a:cs typeface="Times New Roman"/>
              </a:rPr>
              <a:t>No unified dashboard comparing demand, risk, and loss across zones.</a:t>
            </a:r>
          </a:p>
          <a:p>
            <a:pPr marL="164465" indent="-151765">
              <a:lnSpc>
                <a:spcPct val="100000"/>
              </a:lnSpc>
              <a:buChar char="•"/>
              <a:tabLst>
                <a:tab pos="164465" algn="l"/>
              </a:tabLst>
            </a:pPr>
            <a:endParaRPr lang="en-US" sz="1200" dirty="0">
              <a:latin typeface="Times New Roman"/>
              <a:cs typeface="Times New Roman"/>
            </a:endParaRPr>
          </a:p>
          <a:p>
            <a:pPr marL="12700">
              <a:lnSpc>
                <a:spcPct val="100000"/>
              </a:lnSpc>
              <a:tabLst>
                <a:tab pos="164465" algn="l"/>
              </a:tabLst>
            </a:pPr>
            <a:r>
              <a:rPr sz="2000" b="1" dirty="0">
                <a:latin typeface="Times New Roman"/>
                <a:cs typeface="Times New Roman"/>
              </a:rPr>
              <a:t>Proposed</a:t>
            </a:r>
            <a:r>
              <a:rPr sz="2000" b="1" spc="-75" dirty="0">
                <a:latin typeface="Times New Roman"/>
                <a:cs typeface="Times New Roman"/>
              </a:rPr>
              <a:t> </a:t>
            </a:r>
            <a:r>
              <a:rPr sz="2000" b="1" spc="-10" dirty="0">
                <a:latin typeface="Times New Roman"/>
                <a:cs typeface="Times New Roman"/>
              </a:rPr>
              <a:t>Solution</a:t>
            </a:r>
            <a:r>
              <a:rPr sz="2000" spc="-10" dirty="0">
                <a:latin typeface="Times New Roman"/>
                <a:cs typeface="Times New Roman"/>
              </a:rPr>
              <a:t>:</a:t>
            </a:r>
            <a:endParaRPr lang="en-US" sz="2000" dirty="0">
              <a:latin typeface="Times New Roman"/>
              <a:cs typeface="Times New Roman"/>
            </a:endParaRPr>
          </a:p>
          <a:p>
            <a:pPr marL="149225" indent="-136525" algn="just">
              <a:lnSpc>
                <a:spcPct val="100000"/>
              </a:lnSpc>
              <a:spcBef>
                <a:spcPts val="960"/>
              </a:spcBef>
              <a:buChar char="•"/>
              <a:tabLst>
                <a:tab pos="149225" algn="l"/>
              </a:tabLst>
            </a:pPr>
            <a:r>
              <a:rPr lang="en-US" sz="2000" dirty="0">
                <a:latin typeface="Times New Roman"/>
                <a:cs typeface="Times New Roman"/>
              </a:rPr>
              <a:t>AI-Based Urban Water Demand and Leakage Intelligence System using deep learning, ML, and anomaly detection.</a:t>
            </a:r>
          </a:p>
          <a:p>
            <a:pPr marL="164465" indent="-151765" algn="just">
              <a:lnSpc>
                <a:spcPct val="100000"/>
              </a:lnSpc>
              <a:spcBef>
                <a:spcPts val="5"/>
              </a:spcBef>
              <a:buChar char="•"/>
              <a:tabLst>
                <a:tab pos="164465" algn="l"/>
              </a:tabLst>
            </a:pPr>
            <a:r>
              <a:rPr lang="en-US" sz="2000" dirty="0">
                <a:latin typeface="Times New Roman"/>
                <a:cs typeface="Times New Roman"/>
              </a:rPr>
              <a:t>LSTM-based demand and peak-period forecasting.</a:t>
            </a:r>
          </a:p>
          <a:p>
            <a:pPr marL="164465" indent="-151765" algn="just">
              <a:lnSpc>
                <a:spcPct val="100000"/>
              </a:lnSpc>
              <a:spcBef>
                <a:spcPts val="5"/>
              </a:spcBef>
              <a:buChar char="•"/>
              <a:tabLst>
                <a:tab pos="164465" algn="l"/>
              </a:tabLst>
            </a:pPr>
            <a:r>
              <a:rPr lang="en-US" sz="2000" spc="-45" dirty="0">
                <a:latin typeface="Times New Roman"/>
                <a:cs typeface="Times New Roman"/>
              </a:rPr>
              <a:t>Anomaly detection for leak identification, severity, and prioritization.</a:t>
            </a:r>
          </a:p>
          <a:p>
            <a:pPr marL="164465" indent="-151765" algn="just">
              <a:lnSpc>
                <a:spcPct val="100000"/>
              </a:lnSpc>
              <a:spcBef>
                <a:spcPts val="5"/>
              </a:spcBef>
              <a:buChar char="•"/>
              <a:tabLst>
                <a:tab pos="164465" algn="l"/>
              </a:tabLst>
            </a:pPr>
            <a:r>
              <a:rPr lang="en-US" sz="2000" spc="-45" dirty="0">
                <a:latin typeface="Times New Roman"/>
                <a:cs typeface="Times New Roman"/>
              </a:rPr>
              <a:t>GIS-based visualization and zone-wise risk dashboard.</a:t>
            </a:r>
          </a:p>
          <a:p>
            <a:pPr marL="164465" indent="-151765" algn="just">
              <a:lnSpc>
                <a:spcPct val="100000"/>
              </a:lnSpc>
              <a:spcBef>
                <a:spcPts val="5"/>
              </a:spcBef>
              <a:buChar char="•"/>
              <a:tabLst>
                <a:tab pos="164465" algn="l"/>
              </a:tabLst>
            </a:pPr>
            <a:r>
              <a:rPr lang="en-US" sz="2000" dirty="0">
                <a:latin typeface="Times New Roman"/>
                <a:cs typeface="Times New Roman"/>
              </a:rPr>
              <a:t>Interactive dashboard for real-time, explainable decision support.</a:t>
            </a:r>
            <a:endParaRPr sz="200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72592" y="147319"/>
            <a:ext cx="11648440" cy="258404"/>
          </a:xfrm>
          <a:prstGeom prst="rect">
            <a:avLst/>
          </a:prstGeom>
        </p:spPr>
        <p:txBody>
          <a:bodyPr vert="horz" wrap="square" lIns="0" tIns="12065" rIns="0" bIns="0" rtlCol="0">
            <a:spAutoFit/>
          </a:bodyPr>
          <a:lstStyle/>
          <a:p>
            <a:pPr marL="12700">
              <a:lnSpc>
                <a:spcPct val="100000"/>
              </a:lnSpc>
              <a:spcBef>
                <a:spcPts val="95"/>
              </a:spcBef>
              <a:tabLst>
                <a:tab pos="10427335" algn="l"/>
              </a:tabLst>
            </a:pPr>
            <a:r>
              <a:rPr sz="1600" dirty="0">
                <a:latin typeface="Times New Roman"/>
                <a:cs typeface="Times New Roman"/>
              </a:rPr>
              <a:t>Batch</a:t>
            </a:r>
            <a:r>
              <a:rPr sz="1600" spc="-30" dirty="0">
                <a:latin typeface="Times New Roman"/>
                <a:cs typeface="Times New Roman"/>
              </a:rPr>
              <a:t> </a:t>
            </a:r>
            <a:r>
              <a:rPr sz="1600" spc="-10" dirty="0">
                <a:latin typeface="Times New Roman"/>
                <a:cs typeface="Times New Roman"/>
              </a:rPr>
              <a:t>No:</a:t>
            </a:r>
            <a:r>
              <a:rPr lang="en-US" sz="1600" spc="-10" dirty="0">
                <a:latin typeface="Times New Roman"/>
                <a:cs typeface="Times New Roman"/>
              </a:rPr>
              <a:t>2026B03                                                                                                                                                                                 </a:t>
            </a:r>
            <a:r>
              <a:rPr sz="1600" dirty="0">
                <a:latin typeface="Times New Roman"/>
                <a:cs typeface="Times New Roman"/>
              </a:rPr>
              <a:t>"</a:t>
            </a:r>
            <a:r>
              <a:rPr lang="en-US" sz="1600" dirty="0" err="1">
                <a:latin typeface="Times New Roman"/>
                <a:cs typeface="Times New Roman"/>
              </a:rPr>
              <a:t>AquaPredict</a:t>
            </a:r>
            <a:r>
              <a:rPr sz="1600" spc="-50" dirty="0">
                <a:latin typeface="Times New Roman"/>
                <a:cs typeface="Times New Roman"/>
              </a:rPr>
              <a:t>"</a:t>
            </a:r>
            <a:endParaRPr sz="1600" dirty="0">
              <a:latin typeface="Times New Roman"/>
              <a:cs typeface="Times New Roman"/>
            </a:endParaRPr>
          </a:p>
        </p:txBody>
      </p:sp>
      <p:sp>
        <p:nvSpPr>
          <p:cNvPr id="2" name="object 2" descr="$PPTXTitle"/>
          <p:cNvSpPr txBox="1">
            <a:spLocks noGrp="1"/>
          </p:cNvSpPr>
          <p:nvPr>
            <p:ph type="title"/>
          </p:nvPr>
        </p:nvSpPr>
        <p:spPr>
          <a:xfrm>
            <a:off x="0" y="470551"/>
            <a:ext cx="12192000" cy="574040"/>
          </a:xfrm>
          <a:prstGeom prst="rect">
            <a:avLst/>
          </a:prstGeom>
        </p:spPr>
        <p:txBody>
          <a:bodyPr vert="horz" wrap="square" lIns="0" tIns="12700" rIns="0" bIns="0" rtlCol="0">
            <a:spAutoFit/>
          </a:bodyPr>
          <a:lstStyle/>
          <a:p>
            <a:pPr marL="485140" algn="ctr">
              <a:lnSpc>
                <a:spcPct val="100000"/>
              </a:lnSpc>
              <a:spcBef>
                <a:spcPts val="100"/>
              </a:spcBef>
            </a:pPr>
            <a:r>
              <a:rPr dirty="0"/>
              <a:t>4. </a:t>
            </a:r>
            <a:r>
              <a:rPr spc="-10" dirty="0"/>
              <a:t>Methodology</a:t>
            </a:r>
          </a:p>
        </p:txBody>
      </p:sp>
      <p:sp>
        <p:nvSpPr>
          <p:cNvPr id="4" name="object 4"/>
          <p:cNvSpPr txBox="1"/>
          <p:nvPr/>
        </p:nvSpPr>
        <p:spPr>
          <a:xfrm>
            <a:off x="745236" y="1524000"/>
            <a:ext cx="10873105" cy="4142801"/>
          </a:xfrm>
          <a:prstGeom prst="rect">
            <a:avLst/>
          </a:prstGeom>
        </p:spPr>
        <p:txBody>
          <a:bodyPr vert="horz" wrap="square" lIns="0" tIns="13335" rIns="0" bIns="0" rtlCol="0">
            <a:spAutoFit/>
          </a:bodyPr>
          <a:lstStyle/>
          <a:p>
            <a:pPr marL="12700" marR="6350" indent="-9525" algn="just">
              <a:lnSpc>
                <a:spcPct val="100000"/>
              </a:lnSpc>
              <a:spcBef>
                <a:spcPts val="105"/>
              </a:spcBef>
              <a:buSzPct val="95000"/>
              <a:buFont typeface="Times New Roman"/>
              <a:buChar char="•"/>
              <a:tabLst>
                <a:tab pos="100330" algn="l"/>
              </a:tabLst>
            </a:pPr>
            <a:r>
              <a:rPr sz="2000" b="1" dirty="0">
                <a:latin typeface="Times New Roman"/>
                <a:cs typeface="Times New Roman"/>
              </a:rPr>
              <a:t>	Dataset:</a:t>
            </a:r>
            <a:r>
              <a:rPr lang="en-US" sz="2000" b="1" spc="325" dirty="0">
                <a:latin typeface="Times New Roman"/>
                <a:cs typeface="Times New Roman"/>
              </a:rPr>
              <a:t> </a:t>
            </a:r>
            <a:r>
              <a:rPr lang="en-US" sz="2000" dirty="0">
                <a:latin typeface="Times New Roman"/>
                <a:cs typeface="Times New Roman"/>
              </a:rPr>
              <a:t>The system uses the Battle of Water Demand Forecasting (BWDF) dataset, containing historical water-demand and weather data from multiple District Metered Areas (DMAs). </a:t>
            </a:r>
          </a:p>
          <a:p>
            <a:pPr marL="12700" marR="6350" indent="-9525" algn="just">
              <a:lnSpc>
                <a:spcPct val="100000"/>
              </a:lnSpc>
              <a:spcBef>
                <a:spcPts val="105"/>
              </a:spcBef>
              <a:buSzPct val="95000"/>
              <a:buFont typeface="Times New Roman"/>
              <a:buChar char="•"/>
              <a:tabLst>
                <a:tab pos="100330" algn="l"/>
              </a:tabLst>
            </a:pPr>
            <a:endParaRPr lang="en-US" sz="800" dirty="0">
              <a:latin typeface="Times New Roman"/>
              <a:cs typeface="Times New Roman"/>
            </a:endParaRPr>
          </a:p>
          <a:p>
            <a:pPr marL="12700" marR="6350" indent="-9525" algn="just">
              <a:lnSpc>
                <a:spcPct val="100000"/>
              </a:lnSpc>
              <a:spcBef>
                <a:spcPts val="105"/>
              </a:spcBef>
              <a:buSzPct val="95000"/>
              <a:buFont typeface="Times New Roman"/>
              <a:buChar char="•"/>
              <a:tabLst>
                <a:tab pos="100330" algn="l"/>
              </a:tabLst>
            </a:pPr>
            <a:r>
              <a:rPr lang="en-US" sz="2000" b="1" dirty="0">
                <a:latin typeface="Times New Roman"/>
                <a:cs typeface="Times New Roman"/>
              </a:rPr>
              <a:t>Data Preprocessing: </a:t>
            </a:r>
            <a:r>
              <a:rPr lang="en-US" sz="2000" dirty="0">
                <a:latin typeface="Times New Roman"/>
                <a:cs typeface="Times New Roman"/>
              </a:rPr>
              <a:t>Missing values, noisy data, and inconsistencies are handled using data cleaning, normalization, and feature extraction techniques. </a:t>
            </a:r>
          </a:p>
          <a:p>
            <a:pPr marL="12700" marR="6350" indent="-9525" algn="just">
              <a:lnSpc>
                <a:spcPct val="100000"/>
              </a:lnSpc>
              <a:spcBef>
                <a:spcPts val="105"/>
              </a:spcBef>
              <a:buSzPct val="95000"/>
              <a:buFont typeface="Times New Roman"/>
              <a:buChar char="•"/>
              <a:tabLst>
                <a:tab pos="100330" algn="l"/>
              </a:tabLst>
            </a:pPr>
            <a:endParaRPr lang="en-US" sz="800" dirty="0">
              <a:latin typeface="Times New Roman"/>
              <a:cs typeface="Times New Roman"/>
            </a:endParaRPr>
          </a:p>
          <a:p>
            <a:pPr marL="12700" marR="6350" indent="-9525" algn="just">
              <a:lnSpc>
                <a:spcPct val="100000"/>
              </a:lnSpc>
              <a:spcBef>
                <a:spcPts val="105"/>
              </a:spcBef>
              <a:buSzPct val="95000"/>
              <a:buFont typeface="Times New Roman"/>
              <a:buChar char="•"/>
              <a:tabLst>
                <a:tab pos="100330" algn="l"/>
              </a:tabLst>
            </a:pPr>
            <a:r>
              <a:rPr sz="2000" b="1" dirty="0">
                <a:latin typeface="Times New Roman"/>
                <a:cs typeface="Times New Roman"/>
              </a:rPr>
              <a:t>	</a:t>
            </a:r>
            <a:r>
              <a:rPr lang="en-US" sz="2000" b="1" dirty="0">
                <a:latin typeface="Times New Roman"/>
                <a:cs typeface="Times New Roman"/>
              </a:rPr>
              <a:t> Demand Forecasting: </a:t>
            </a:r>
            <a:r>
              <a:rPr lang="en-US" sz="2000" dirty="0">
                <a:latin typeface="Times New Roman"/>
                <a:cs typeface="Times New Roman"/>
              </a:rPr>
              <a:t>An LSTM model analyzes historical water-demand patterns to forecast future demand and identify peak-demand periods. </a:t>
            </a:r>
          </a:p>
          <a:p>
            <a:pPr marL="12700" marR="6350" indent="-9525" algn="just">
              <a:lnSpc>
                <a:spcPct val="100000"/>
              </a:lnSpc>
              <a:spcBef>
                <a:spcPts val="105"/>
              </a:spcBef>
              <a:buSzPct val="95000"/>
              <a:buFont typeface="Times New Roman"/>
              <a:buChar char="•"/>
              <a:tabLst>
                <a:tab pos="100330" algn="l"/>
              </a:tabLst>
            </a:pPr>
            <a:endParaRPr lang="en-US" sz="800" dirty="0">
              <a:latin typeface="Times New Roman"/>
              <a:cs typeface="Times New Roman"/>
            </a:endParaRPr>
          </a:p>
          <a:p>
            <a:pPr marL="12700" marR="6350" indent="-9525" algn="just">
              <a:lnSpc>
                <a:spcPct val="100000"/>
              </a:lnSpc>
              <a:spcBef>
                <a:spcPts val="105"/>
              </a:spcBef>
              <a:buSzPct val="95000"/>
              <a:buFont typeface="Times New Roman"/>
              <a:buChar char="•"/>
              <a:tabLst>
                <a:tab pos="100330" algn="l"/>
              </a:tabLst>
            </a:pPr>
            <a:r>
              <a:rPr lang="en-IN" sz="2000" b="1" dirty="0">
                <a:latin typeface="Times New Roman" panose="02020603050405020304" pitchFamily="18" charset="0"/>
                <a:cs typeface="Times New Roman" panose="02020603050405020304" pitchFamily="18" charset="0"/>
              </a:rPr>
              <a:t>Leakage Detection &amp; Severity:</a:t>
            </a:r>
            <a:r>
              <a:rPr lang="en-IN" sz="2000" dirty="0">
                <a:latin typeface="Times New Roman" panose="02020603050405020304" pitchFamily="18" charset="0"/>
                <a:cs typeface="Times New Roman" panose="02020603050405020304" pitchFamily="18" charset="0"/>
              </a:rPr>
              <a:t> Scikit-learn ML and anomaly detection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flow and pressure variations to detect potential leaks and estimate their severity.</a:t>
            </a:r>
          </a:p>
          <a:p>
            <a:pPr marL="12700" marR="6350" indent="-9525" algn="just">
              <a:lnSpc>
                <a:spcPct val="100000"/>
              </a:lnSpc>
              <a:spcBef>
                <a:spcPts val="105"/>
              </a:spcBef>
              <a:buSzPct val="95000"/>
              <a:buFont typeface="Times New Roman"/>
              <a:buChar char="•"/>
              <a:tabLst>
                <a:tab pos="100330" algn="l"/>
              </a:tabLst>
            </a:pPr>
            <a:endParaRPr lang="en-IN" sz="800" dirty="0">
              <a:latin typeface="Times New Roman" panose="02020603050405020304" pitchFamily="18" charset="0"/>
              <a:cs typeface="Times New Roman" panose="02020603050405020304" pitchFamily="18" charset="0"/>
            </a:endParaRPr>
          </a:p>
          <a:p>
            <a:pPr marL="12700" marR="6350" indent="-9525" algn="just">
              <a:lnSpc>
                <a:spcPct val="100000"/>
              </a:lnSpc>
              <a:spcBef>
                <a:spcPts val="105"/>
              </a:spcBef>
              <a:buSzPct val="95000"/>
              <a:buFont typeface="Times New Roman"/>
              <a:buChar char="•"/>
              <a:tabLst>
                <a:tab pos="100330" algn="l"/>
              </a:tabLst>
            </a:pPr>
            <a:r>
              <a:rPr lang="en-IN" sz="2000" b="1" dirty="0">
                <a:latin typeface="Times New Roman"/>
                <a:cs typeface="Times New Roman"/>
              </a:rPr>
              <a:t>GIS Mapping: </a:t>
            </a:r>
            <a:r>
              <a:rPr lang="en-IN" sz="2000" dirty="0">
                <a:latin typeface="Times New Roman"/>
                <a:cs typeface="Times New Roman"/>
              </a:rPr>
              <a:t>Leaflet.js is used to visualize detected leakages and their locations on an interactive map.</a:t>
            </a:r>
          </a:p>
          <a:p>
            <a:pPr marL="12700" marR="6350" indent="-9525" algn="just">
              <a:lnSpc>
                <a:spcPct val="100000"/>
              </a:lnSpc>
              <a:spcBef>
                <a:spcPts val="105"/>
              </a:spcBef>
              <a:buSzPct val="95000"/>
              <a:buFont typeface="Times New Roman"/>
              <a:buChar char="•"/>
              <a:tabLst>
                <a:tab pos="100330" algn="l"/>
              </a:tabLst>
            </a:pPr>
            <a:endParaRPr lang="en-IN" sz="800" dirty="0">
              <a:latin typeface="Times New Roman"/>
              <a:cs typeface="Times New Roman"/>
            </a:endParaRPr>
          </a:p>
          <a:p>
            <a:pPr marL="12700" marR="6350" indent="-9525" algn="just">
              <a:lnSpc>
                <a:spcPct val="100000"/>
              </a:lnSpc>
              <a:spcBef>
                <a:spcPts val="105"/>
              </a:spcBef>
              <a:buSzPct val="95000"/>
              <a:buFont typeface="Times New Roman"/>
              <a:buChar char="•"/>
              <a:tabLst>
                <a:tab pos="100330" algn="l"/>
              </a:tabLst>
            </a:pPr>
            <a:r>
              <a:rPr lang="en-IN" sz="2000" b="1" dirty="0">
                <a:latin typeface="Times New Roman"/>
                <a:cs typeface="Times New Roman"/>
              </a:rPr>
              <a:t>Zone Risk Analysis: </a:t>
            </a:r>
            <a:r>
              <a:rPr lang="en-IN" sz="2000" dirty="0">
                <a:latin typeface="Times New Roman"/>
                <a:cs typeface="Times New Roman"/>
              </a:rPr>
              <a:t>A risk dashboard categorizes water-distribution zones based on demand patterns, leakage indications, and severity.</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300024" y="147319"/>
            <a:ext cx="1833576" cy="258404"/>
          </a:xfrm>
          <a:prstGeom prst="rect">
            <a:avLst/>
          </a:prstGeom>
        </p:spPr>
        <p:txBody>
          <a:bodyPr vert="horz" wrap="square" lIns="0" tIns="12065" rIns="0" bIns="0" rtlCol="0">
            <a:spAutoFit/>
          </a:bodyPr>
          <a:lstStyle/>
          <a:p>
            <a:pPr marL="12700">
              <a:lnSpc>
                <a:spcPct val="100000"/>
              </a:lnSpc>
              <a:spcBef>
                <a:spcPts val="95"/>
              </a:spcBef>
            </a:pPr>
            <a:r>
              <a:rPr sz="1600" dirty="0">
                <a:latin typeface="Times New Roman"/>
                <a:cs typeface="Times New Roman"/>
              </a:rPr>
              <a:t>Batch</a:t>
            </a:r>
            <a:r>
              <a:rPr sz="1600" spc="-30" dirty="0">
                <a:latin typeface="Times New Roman"/>
                <a:cs typeface="Times New Roman"/>
              </a:rPr>
              <a:t> </a:t>
            </a:r>
            <a:r>
              <a:rPr sz="1600" spc="-10" dirty="0">
                <a:latin typeface="Times New Roman"/>
                <a:cs typeface="Times New Roman"/>
              </a:rPr>
              <a:t>No:</a:t>
            </a:r>
            <a:r>
              <a:rPr lang="en-US" sz="1600" spc="-10" dirty="0">
                <a:latin typeface="Times New Roman"/>
                <a:cs typeface="Times New Roman"/>
              </a:rPr>
              <a:t>2026B03</a:t>
            </a:r>
            <a:endParaRPr sz="1600" dirty="0">
              <a:latin typeface="Times New Roman"/>
              <a:cs typeface="Times New Roman"/>
            </a:endParaRPr>
          </a:p>
        </p:txBody>
      </p:sp>
      <p:sp>
        <p:nvSpPr>
          <p:cNvPr id="7" name="object 7"/>
          <p:cNvSpPr txBox="1"/>
          <p:nvPr/>
        </p:nvSpPr>
        <p:spPr>
          <a:xfrm>
            <a:off x="10285681" y="152607"/>
            <a:ext cx="1606295" cy="258404"/>
          </a:xfrm>
          <a:prstGeom prst="rect">
            <a:avLst/>
          </a:prstGeom>
        </p:spPr>
        <p:txBody>
          <a:bodyPr vert="horz" wrap="square" lIns="0" tIns="12065" rIns="0" bIns="0" rtlCol="0">
            <a:spAutoFit/>
          </a:bodyPr>
          <a:lstStyle/>
          <a:p>
            <a:pPr marL="12700">
              <a:lnSpc>
                <a:spcPct val="100000"/>
              </a:lnSpc>
              <a:spcBef>
                <a:spcPts val="95"/>
              </a:spcBef>
            </a:pPr>
            <a:r>
              <a:rPr lang="en-US" sz="1600" dirty="0">
                <a:latin typeface="Times New Roman"/>
                <a:cs typeface="Times New Roman"/>
              </a:rPr>
              <a:t>      </a:t>
            </a:r>
            <a:r>
              <a:rPr sz="1600" dirty="0">
                <a:latin typeface="Times New Roman"/>
                <a:cs typeface="Times New Roman"/>
              </a:rPr>
              <a:t>"</a:t>
            </a:r>
            <a:r>
              <a:rPr lang="en-US" sz="1600" dirty="0" err="1">
                <a:latin typeface="Times New Roman"/>
                <a:cs typeface="Times New Roman"/>
              </a:rPr>
              <a:t>AquaPredict</a:t>
            </a:r>
            <a:r>
              <a:rPr sz="1600" spc="-10" dirty="0">
                <a:latin typeface="Times New Roman"/>
                <a:cs typeface="Times New Roman"/>
              </a:rPr>
              <a:t>"</a:t>
            </a:r>
            <a:endParaRPr sz="1600" dirty="0">
              <a:latin typeface="Times New Roman"/>
              <a:cs typeface="Times New Roman"/>
            </a:endParaRPr>
          </a:p>
        </p:txBody>
      </p:sp>
      <p:sp>
        <p:nvSpPr>
          <p:cNvPr id="2" name="object 2" descr="$PPTXTitle"/>
          <p:cNvSpPr txBox="1">
            <a:spLocks noGrp="1"/>
          </p:cNvSpPr>
          <p:nvPr>
            <p:ph type="title"/>
          </p:nvPr>
        </p:nvSpPr>
        <p:spPr>
          <a:xfrm>
            <a:off x="642621" y="793750"/>
            <a:ext cx="5078730" cy="574675"/>
          </a:xfrm>
          <a:prstGeom prst="rect">
            <a:avLst/>
          </a:prstGeom>
        </p:spPr>
        <p:txBody>
          <a:bodyPr vert="horz" wrap="square" lIns="0" tIns="12700" rIns="0" bIns="0" rtlCol="0">
            <a:spAutoFit/>
          </a:bodyPr>
          <a:lstStyle/>
          <a:p>
            <a:pPr marL="12700">
              <a:lnSpc>
                <a:spcPct val="100000"/>
              </a:lnSpc>
              <a:spcBef>
                <a:spcPts val="100"/>
              </a:spcBef>
            </a:pPr>
            <a:r>
              <a:rPr dirty="0"/>
              <a:t>5.</a:t>
            </a:r>
            <a:r>
              <a:rPr spc="-45" dirty="0"/>
              <a:t> </a:t>
            </a:r>
            <a:r>
              <a:rPr dirty="0"/>
              <a:t>Software</a:t>
            </a:r>
            <a:r>
              <a:rPr spc="-40" dirty="0"/>
              <a:t> </a:t>
            </a:r>
            <a:r>
              <a:rPr spc="-10" dirty="0"/>
              <a:t>Requirements</a:t>
            </a:r>
          </a:p>
        </p:txBody>
      </p:sp>
      <p:sp>
        <p:nvSpPr>
          <p:cNvPr id="4" name="object 4"/>
          <p:cNvSpPr txBox="1"/>
          <p:nvPr/>
        </p:nvSpPr>
        <p:spPr>
          <a:xfrm>
            <a:off x="6470650" y="793750"/>
            <a:ext cx="4886325"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780373"/>
                </a:solidFill>
                <a:latin typeface="Times New Roman"/>
                <a:cs typeface="Times New Roman"/>
              </a:rPr>
              <a:t>Hardware</a:t>
            </a:r>
            <a:r>
              <a:rPr sz="3600" b="1" spc="-125" dirty="0">
                <a:solidFill>
                  <a:srgbClr val="780373"/>
                </a:solidFill>
                <a:latin typeface="Times New Roman"/>
                <a:cs typeface="Times New Roman"/>
              </a:rPr>
              <a:t> </a:t>
            </a:r>
            <a:r>
              <a:rPr sz="3600" b="1" spc="-10" dirty="0">
                <a:solidFill>
                  <a:srgbClr val="780373"/>
                </a:solidFill>
                <a:latin typeface="Times New Roman"/>
                <a:cs typeface="Times New Roman"/>
              </a:rPr>
              <a:t>Requirements</a:t>
            </a:r>
            <a:endParaRPr sz="3600">
              <a:latin typeface="Times New Roman"/>
              <a:cs typeface="Times New Roman"/>
            </a:endParaRPr>
          </a:p>
        </p:txBody>
      </p:sp>
      <p:sp>
        <p:nvSpPr>
          <p:cNvPr id="3" name="object 3"/>
          <p:cNvSpPr txBox="1"/>
          <p:nvPr/>
        </p:nvSpPr>
        <p:spPr>
          <a:xfrm>
            <a:off x="816355" y="1813941"/>
            <a:ext cx="5113020" cy="2886046"/>
          </a:xfrm>
          <a:prstGeom prst="rect">
            <a:avLst/>
          </a:prstGeom>
        </p:spPr>
        <p:txBody>
          <a:bodyPr vert="horz" wrap="square" lIns="0" tIns="13335" rIns="0" bIns="0" rtlCol="0">
            <a:spAutoFit/>
          </a:bodyPr>
          <a:lstStyle/>
          <a:p>
            <a:pPr marL="354965" indent="-342265">
              <a:lnSpc>
                <a:spcPct val="100000"/>
              </a:lnSpc>
              <a:spcBef>
                <a:spcPts val="105"/>
              </a:spcBef>
              <a:buFont typeface="Arial MT"/>
              <a:buChar char="•"/>
              <a:tabLst>
                <a:tab pos="354965" algn="l"/>
              </a:tabLst>
            </a:pPr>
            <a:r>
              <a:rPr lang="en-IN" sz="2000" b="1" dirty="0">
                <a:latin typeface="Times New Roman"/>
                <a:cs typeface="Times New Roman"/>
              </a:rPr>
              <a:t>Frontend: </a:t>
            </a:r>
            <a:r>
              <a:rPr lang="en-IN" sz="2000" dirty="0">
                <a:latin typeface="Times New Roman"/>
                <a:cs typeface="Times New Roman"/>
              </a:rPr>
              <a:t>React.js, HTML, CSS</a:t>
            </a:r>
          </a:p>
          <a:p>
            <a:pPr marL="354965" indent="-342265">
              <a:lnSpc>
                <a:spcPct val="100000"/>
              </a:lnSpc>
              <a:spcBef>
                <a:spcPts val="105"/>
              </a:spcBef>
              <a:buFont typeface="Arial MT"/>
              <a:buChar char="•"/>
              <a:tabLst>
                <a:tab pos="354965" algn="l"/>
              </a:tabLst>
            </a:pPr>
            <a:r>
              <a:rPr lang="en-IN" sz="2000" b="1" dirty="0">
                <a:latin typeface="Times New Roman"/>
                <a:cs typeface="Times New Roman"/>
              </a:rPr>
              <a:t>Backend: </a:t>
            </a:r>
            <a:r>
              <a:rPr lang="en-IN" sz="2000" dirty="0">
                <a:latin typeface="Times New Roman"/>
                <a:cs typeface="Times New Roman"/>
              </a:rPr>
              <a:t>Node.js with Express.js</a:t>
            </a:r>
          </a:p>
          <a:p>
            <a:pPr marL="354965" indent="-342265">
              <a:lnSpc>
                <a:spcPct val="100000"/>
              </a:lnSpc>
              <a:spcBef>
                <a:spcPts val="105"/>
              </a:spcBef>
              <a:buFont typeface="Arial MT"/>
              <a:buChar char="•"/>
              <a:tabLst>
                <a:tab pos="354965" algn="l"/>
              </a:tabLst>
            </a:pPr>
            <a:r>
              <a:rPr lang="en-IN" sz="2000" b="1" dirty="0">
                <a:latin typeface="Times New Roman"/>
                <a:cs typeface="Times New Roman"/>
              </a:rPr>
              <a:t>Database: </a:t>
            </a:r>
            <a:r>
              <a:rPr lang="en-IN" sz="2000" dirty="0">
                <a:latin typeface="Times New Roman"/>
                <a:cs typeface="Times New Roman"/>
              </a:rPr>
              <a:t>MongoDB(NoSQL)</a:t>
            </a:r>
          </a:p>
          <a:p>
            <a:pPr marL="354965" indent="-342265">
              <a:lnSpc>
                <a:spcPct val="100000"/>
              </a:lnSpc>
              <a:spcBef>
                <a:spcPts val="105"/>
              </a:spcBef>
              <a:buFont typeface="Arial MT"/>
              <a:buChar char="•"/>
              <a:tabLst>
                <a:tab pos="354965" algn="l"/>
              </a:tabLst>
            </a:pPr>
            <a:r>
              <a:rPr lang="en-IN" sz="2000" b="1" dirty="0">
                <a:latin typeface="Times New Roman"/>
                <a:cs typeface="Times New Roman"/>
              </a:rPr>
              <a:t>Authentication: </a:t>
            </a:r>
            <a:r>
              <a:rPr lang="en-IN" sz="2000" dirty="0">
                <a:latin typeface="Times New Roman"/>
                <a:cs typeface="Times New Roman"/>
              </a:rPr>
              <a:t>JSON Web Token (JWT)</a:t>
            </a:r>
          </a:p>
          <a:p>
            <a:pPr marL="354965" indent="-342265">
              <a:lnSpc>
                <a:spcPct val="100000"/>
              </a:lnSpc>
              <a:spcBef>
                <a:spcPts val="105"/>
              </a:spcBef>
              <a:buFont typeface="Arial MT"/>
              <a:buChar char="•"/>
              <a:tabLst>
                <a:tab pos="354965" algn="l"/>
              </a:tabLst>
            </a:pPr>
            <a:r>
              <a:rPr lang="en-IN" sz="2000" b="1" dirty="0">
                <a:latin typeface="Times New Roman"/>
                <a:cs typeface="Times New Roman"/>
              </a:rPr>
              <a:t>Deep Learning: </a:t>
            </a:r>
            <a:r>
              <a:rPr lang="en-IN" sz="2000" dirty="0" err="1">
                <a:latin typeface="Times New Roman"/>
                <a:cs typeface="Times New Roman"/>
              </a:rPr>
              <a:t>PyTorch</a:t>
            </a:r>
            <a:r>
              <a:rPr lang="en-IN" sz="2000" dirty="0">
                <a:latin typeface="Times New Roman"/>
                <a:cs typeface="Times New Roman"/>
              </a:rPr>
              <a:t> </a:t>
            </a:r>
          </a:p>
          <a:p>
            <a:pPr marL="354965" indent="-342265">
              <a:lnSpc>
                <a:spcPct val="100000"/>
              </a:lnSpc>
              <a:spcBef>
                <a:spcPts val="105"/>
              </a:spcBef>
              <a:buFont typeface="Arial MT"/>
              <a:buChar char="•"/>
              <a:tabLst>
                <a:tab pos="354965" algn="l"/>
              </a:tabLst>
            </a:pPr>
            <a:r>
              <a:rPr lang="en-IN" sz="2000" b="1" dirty="0">
                <a:latin typeface="Times New Roman"/>
                <a:cs typeface="Times New Roman"/>
              </a:rPr>
              <a:t>Machine Learning: </a:t>
            </a:r>
            <a:r>
              <a:rPr lang="en-IN" sz="2000" dirty="0">
                <a:latin typeface="Times New Roman"/>
                <a:cs typeface="Times New Roman"/>
              </a:rPr>
              <a:t>Scikit-learn</a:t>
            </a:r>
          </a:p>
          <a:p>
            <a:pPr marL="354965" indent="-342265">
              <a:lnSpc>
                <a:spcPct val="100000"/>
              </a:lnSpc>
              <a:spcBef>
                <a:spcPts val="105"/>
              </a:spcBef>
              <a:buFont typeface="Arial MT"/>
              <a:buChar char="•"/>
              <a:tabLst>
                <a:tab pos="354965" algn="l"/>
              </a:tabLst>
            </a:pPr>
            <a:r>
              <a:rPr lang="en-IN" sz="2000" b="1" dirty="0">
                <a:latin typeface="Times New Roman"/>
                <a:cs typeface="Times New Roman"/>
              </a:rPr>
              <a:t>GIS Visualization: </a:t>
            </a:r>
            <a:r>
              <a:rPr lang="en-IN" sz="2000" dirty="0">
                <a:latin typeface="Times New Roman"/>
                <a:cs typeface="Times New Roman"/>
              </a:rPr>
              <a:t>Leaflet.js</a:t>
            </a:r>
          </a:p>
          <a:p>
            <a:pPr marL="354965" indent="-342265">
              <a:lnSpc>
                <a:spcPct val="100000"/>
              </a:lnSpc>
              <a:spcBef>
                <a:spcPts val="105"/>
              </a:spcBef>
              <a:buFont typeface="Arial MT"/>
              <a:buChar char="•"/>
              <a:tabLst>
                <a:tab pos="354965" algn="l"/>
              </a:tabLst>
            </a:pPr>
            <a:r>
              <a:rPr lang="en-IN" sz="2000" b="1" dirty="0">
                <a:latin typeface="Times New Roman"/>
                <a:cs typeface="Times New Roman"/>
              </a:rPr>
              <a:t>Programming Language: </a:t>
            </a:r>
            <a:r>
              <a:rPr lang="en-IN" sz="2000" dirty="0">
                <a:latin typeface="Times New Roman"/>
                <a:cs typeface="Times New Roman"/>
              </a:rPr>
              <a:t>Python</a:t>
            </a:r>
          </a:p>
          <a:p>
            <a:pPr marL="354965" indent="-342265">
              <a:lnSpc>
                <a:spcPct val="100000"/>
              </a:lnSpc>
              <a:spcBef>
                <a:spcPts val="105"/>
              </a:spcBef>
              <a:buFont typeface="Arial MT"/>
              <a:buChar char="•"/>
              <a:tabLst>
                <a:tab pos="354965" algn="l"/>
              </a:tabLst>
            </a:pPr>
            <a:r>
              <a:rPr lang="en-IN" sz="2000" b="1" dirty="0">
                <a:latin typeface="Times New Roman"/>
                <a:cs typeface="Times New Roman"/>
              </a:rPr>
              <a:t>Tools: </a:t>
            </a:r>
            <a:r>
              <a:rPr lang="en-IN" sz="2000" dirty="0">
                <a:latin typeface="Times New Roman"/>
                <a:cs typeface="Times New Roman"/>
              </a:rPr>
              <a:t>Visual Studio </a:t>
            </a:r>
          </a:p>
        </p:txBody>
      </p:sp>
      <p:sp>
        <p:nvSpPr>
          <p:cNvPr id="5" name="object 5"/>
          <p:cNvSpPr txBox="1"/>
          <p:nvPr/>
        </p:nvSpPr>
        <p:spPr>
          <a:xfrm>
            <a:off x="6470650" y="1728977"/>
            <a:ext cx="5111750" cy="2475678"/>
          </a:xfrm>
          <a:prstGeom prst="rect">
            <a:avLst/>
          </a:prstGeom>
        </p:spPr>
        <p:txBody>
          <a:bodyPr vert="horz" wrap="square" lIns="0" tIns="13335" rIns="0" bIns="0" rtlCol="0">
            <a:spAutoFit/>
          </a:bodyPr>
          <a:lstStyle/>
          <a:p>
            <a:pPr marL="354965" indent="-342265">
              <a:lnSpc>
                <a:spcPct val="100000"/>
              </a:lnSpc>
              <a:spcBef>
                <a:spcPts val="105"/>
              </a:spcBef>
              <a:buFont typeface="Arial MT"/>
              <a:buChar char="•"/>
              <a:tabLst>
                <a:tab pos="354965" algn="l"/>
              </a:tabLst>
            </a:pPr>
            <a:r>
              <a:rPr sz="2000" b="1" dirty="0">
                <a:latin typeface="Times New Roman"/>
                <a:cs typeface="Times New Roman"/>
              </a:rPr>
              <a:t>Processor</a:t>
            </a:r>
            <a:r>
              <a:rPr sz="2000" dirty="0">
                <a:latin typeface="Times New Roman"/>
                <a:cs typeface="Times New Roman"/>
              </a:rPr>
              <a:t>:</a:t>
            </a:r>
            <a:r>
              <a:rPr sz="2000" spc="-50" dirty="0">
                <a:latin typeface="Times New Roman"/>
                <a:cs typeface="Times New Roman"/>
              </a:rPr>
              <a:t> </a:t>
            </a:r>
            <a:r>
              <a:rPr sz="2000" dirty="0">
                <a:latin typeface="Times New Roman"/>
                <a:cs typeface="Times New Roman"/>
              </a:rPr>
              <a:t>Intel</a:t>
            </a:r>
            <a:r>
              <a:rPr sz="2000" spc="-30" dirty="0">
                <a:latin typeface="Times New Roman"/>
                <a:cs typeface="Times New Roman"/>
              </a:rPr>
              <a:t> </a:t>
            </a:r>
            <a:r>
              <a:rPr sz="2000" dirty="0">
                <a:latin typeface="Times New Roman"/>
                <a:cs typeface="Times New Roman"/>
              </a:rPr>
              <a:t>Core</a:t>
            </a:r>
            <a:r>
              <a:rPr sz="2000" spc="-10" dirty="0">
                <a:latin typeface="Times New Roman"/>
                <a:cs typeface="Times New Roman"/>
              </a:rPr>
              <a:t> </a:t>
            </a:r>
            <a:r>
              <a:rPr sz="2000" dirty="0">
                <a:latin typeface="Times New Roman"/>
                <a:cs typeface="Times New Roman"/>
              </a:rPr>
              <a:t>i</a:t>
            </a:r>
            <a:r>
              <a:rPr lang="en-US" sz="2000" dirty="0">
                <a:latin typeface="Times New Roman"/>
                <a:cs typeface="Times New Roman"/>
              </a:rPr>
              <a:t>5</a:t>
            </a:r>
            <a:r>
              <a:rPr sz="2000" spc="-10"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spc="-10" dirty="0">
                <a:latin typeface="Times New Roman"/>
                <a:cs typeface="Times New Roman"/>
              </a:rPr>
              <a:t>equivalent</a:t>
            </a:r>
            <a:endParaRPr sz="2000" dirty="0">
              <a:latin typeface="Times New Roman"/>
              <a:cs typeface="Times New Roman"/>
            </a:endParaRPr>
          </a:p>
          <a:p>
            <a:pPr marL="354965" indent="-342265">
              <a:lnSpc>
                <a:spcPct val="100000"/>
              </a:lnSpc>
              <a:buFont typeface="Arial MT"/>
              <a:buChar char="•"/>
              <a:tabLst>
                <a:tab pos="354965" algn="l"/>
              </a:tabLst>
            </a:pPr>
            <a:r>
              <a:rPr sz="2000" b="1" dirty="0">
                <a:latin typeface="Times New Roman"/>
                <a:cs typeface="Times New Roman"/>
              </a:rPr>
              <a:t>RAM</a:t>
            </a:r>
            <a:r>
              <a:rPr sz="2000" dirty="0">
                <a:latin typeface="Times New Roman"/>
                <a:cs typeface="Times New Roman"/>
              </a:rPr>
              <a:t>:</a:t>
            </a:r>
            <a:r>
              <a:rPr sz="2000" spc="-50" dirty="0">
                <a:latin typeface="Times New Roman"/>
                <a:cs typeface="Times New Roman"/>
              </a:rPr>
              <a:t> </a:t>
            </a:r>
            <a:r>
              <a:rPr sz="2000" dirty="0">
                <a:latin typeface="Times New Roman"/>
                <a:cs typeface="Times New Roman"/>
              </a:rPr>
              <a:t>Minimum</a:t>
            </a:r>
            <a:r>
              <a:rPr sz="2000" spc="-25" dirty="0">
                <a:latin typeface="Times New Roman"/>
                <a:cs typeface="Times New Roman"/>
              </a:rPr>
              <a:t> </a:t>
            </a:r>
            <a:r>
              <a:rPr lang="en-US" sz="2000" spc="-25" dirty="0">
                <a:latin typeface="Times New Roman"/>
                <a:cs typeface="Times New Roman"/>
              </a:rPr>
              <a:t>8</a:t>
            </a:r>
            <a:r>
              <a:rPr sz="2000" spc="-25" dirty="0">
                <a:latin typeface="Times New Roman"/>
                <a:cs typeface="Times New Roman"/>
              </a:rPr>
              <a:t> GB</a:t>
            </a:r>
            <a:endParaRPr sz="2000" dirty="0">
              <a:latin typeface="Times New Roman"/>
              <a:cs typeface="Times New Roman"/>
            </a:endParaRPr>
          </a:p>
          <a:p>
            <a:pPr marL="354965" indent="-342265">
              <a:lnSpc>
                <a:spcPct val="100000"/>
              </a:lnSpc>
              <a:buFont typeface="Arial MT"/>
              <a:buChar char="•"/>
              <a:tabLst>
                <a:tab pos="354965" algn="l"/>
              </a:tabLst>
            </a:pPr>
            <a:r>
              <a:rPr sz="2000" b="1" dirty="0">
                <a:latin typeface="Times New Roman"/>
                <a:cs typeface="Times New Roman"/>
              </a:rPr>
              <a:t>Storage</a:t>
            </a:r>
            <a:r>
              <a:rPr sz="2000" dirty="0">
                <a:latin typeface="Times New Roman"/>
                <a:cs typeface="Times New Roman"/>
              </a:rPr>
              <a:t>:</a:t>
            </a:r>
            <a:r>
              <a:rPr sz="2000" spc="-160" dirty="0">
                <a:latin typeface="Times New Roman"/>
                <a:cs typeface="Times New Roman"/>
              </a:rPr>
              <a:t> </a:t>
            </a:r>
            <a:r>
              <a:rPr sz="2000" dirty="0">
                <a:latin typeface="Times New Roman"/>
                <a:cs typeface="Times New Roman"/>
              </a:rPr>
              <a:t>At</a:t>
            </a:r>
            <a:r>
              <a:rPr sz="2000" spc="-20" dirty="0">
                <a:latin typeface="Times New Roman"/>
                <a:cs typeface="Times New Roman"/>
              </a:rPr>
              <a:t> </a:t>
            </a:r>
            <a:r>
              <a:rPr sz="2000" dirty="0">
                <a:latin typeface="Times New Roman"/>
                <a:cs typeface="Times New Roman"/>
              </a:rPr>
              <a:t>least</a:t>
            </a:r>
            <a:r>
              <a:rPr sz="2000" spc="-20" dirty="0">
                <a:latin typeface="Times New Roman"/>
                <a:cs typeface="Times New Roman"/>
              </a:rPr>
              <a:t> </a:t>
            </a:r>
            <a:r>
              <a:rPr lang="en-US" sz="2000" spc="-20" dirty="0">
                <a:latin typeface="Times New Roman"/>
                <a:cs typeface="Times New Roman"/>
              </a:rPr>
              <a:t>10</a:t>
            </a:r>
            <a:r>
              <a:rPr sz="2000" dirty="0">
                <a:latin typeface="Times New Roman"/>
                <a:cs typeface="Times New Roman"/>
              </a:rPr>
              <a:t>GB</a:t>
            </a:r>
            <a:r>
              <a:rPr sz="2000" spc="-5"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dirty="0">
                <a:latin typeface="Times New Roman"/>
                <a:cs typeface="Times New Roman"/>
              </a:rPr>
              <a:t>dataset</a:t>
            </a:r>
            <a:r>
              <a:rPr sz="2000" spc="-35"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spc="-10" dirty="0">
                <a:latin typeface="Times New Roman"/>
                <a:cs typeface="Times New Roman"/>
              </a:rPr>
              <a:t>models.</a:t>
            </a:r>
            <a:endParaRPr sz="2000" dirty="0">
              <a:latin typeface="Times New Roman"/>
              <a:cs typeface="Times New Roman"/>
            </a:endParaRPr>
          </a:p>
          <a:p>
            <a:pPr marL="354965" indent="-342265">
              <a:lnSpc>
                <a:spcPct val="100000"/>
              </a:lnSpc>
              <a:buFont typeface="Arial MT"/>
              <a:buChar char="•"/>
              <a:tabLst>
                <a:tab pos="354965" algn="l"/>
              </a:tabLst>
            </a:pPr>
            <a:r>
              <a:rPr sz="2000" b="1" dirty="0">
                <a:latin typeface="Times New Roman"/>
                <a:cs typeface="Times New Roman"/>
              </a:rPr>
              <a:t>Operating</a:t>
            </a:r>
            <a:r>
              <a:rPr sz="2000" b="1" spc="-60" dirty="0">
                <a:latin typeface="Times New Roman"/>
                <a:cs typeface="Times New Roman"/>
              </a:rPr>
              <a:t> </a:t>
            </a:r>
            <a:r>
              <a:rPr sz="2000" b="1" dirty="0">
                <a:latin typeface="Times New Roman"/>
                <a:cs typeface="Times New Roman"/>
              </a:rPr>
              <a:t>System</a:t>
            </a:r>
            <a:r>
              <a:rPr sz="2000" dirty="0">
                <a:latin typeface="Times New Roman"/>
                <a:cs typeface="Times New Roman"/>
              </a:rPr>
              <a:t>:</a:t>
            </a:r>
            <a:r>
              <a:rPr sz="2000" spc="-90" dirty="0">
                <a:latin typeface="Times New Roman"/>
                <a:cs typeface="Times New Roman"/>
              </a:rPr>
              <a:t> </a:t>
            </a:r>
            <a:r>
              <a:rPr sz="2000" dirty="0">
                <a:latin typeface="Times New Roman"/>
                <a:cs typeface="Times New Roman"/>
              </a:rPr>
              <a:t>Windows</a:t>
            </a:r>
            <a:r>
              <a:rPr sz="2000" spc="-55"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Linux</a:t>
            </a:r>
            <a:r>
              <a:rPr sz="2000" spc="-45" dirty="0">
                <a:latin typeface="Times New Roman"/>
                <a:cs typeface="Times New Roman"/>
              </a:rPr>
              <a:t> </a:t>
            </a:r>
            <a:r>
              <a:rPr sz="2000" spc="-50" dirty="0">
                <a:latin typeface="Times New Roman"/>
                <a:cs typeface="Times New Roman"/>
              </a:rPr>
              <a:t>/</a:t>
            </a:r>
            <a:endParaRPr sz="2000" dirty="0">
              <a:latin typeface="Times New Roman"/>
              <a:cs typeface="Times New Roman"/>
            </a:endParaRPr>
          </a:p>
          <a:p>
            <a:pPr marL="355600">
              <a:lnSpc>
                <a:spcPct val="100000"/>
              </a:lnSpc>
            </a:pPr>
            <a:r>
              <a:rPr sz="2000" spc="-10" dirty="0">
                <a:latin typeface="Times New Roman"/>
                <a:cs typeface="Times New Roman"/>
              </a:rPr>
              <a:t>macOS</a:t>
            </a:r>
            <a:endParaRPr sz="2000" dirty="0">
              <a:latin typeface="Times New Roman"/>
              <a:cs typeface="Times New Roman"/>
            </a:endParaRPr>
          </a:p>
          <a:p>
            <a:pPr marL="355600" marR="5080" indent="-342900">
              <a:lnSpc>
                <a:spcPct val="100000"/>
              </a:lnSpc>
              <a:buFont typeface="Arial MT"/>
              <a:buChar char="•"/>
              <a:tabLst>
                <a:tab pos="355600" algn="l"/>
                <a:tab pos="1511935" algn="l"/>
                <a:tab pos="2638425" algn="l"/>
                <a:tab pos="3132455" algn="l"/>
                <a:tab pos="4032885" algn="l"/>
              </a:tabLst>
            </a:pPr>
            <a:r>
              <a:rPr sz="2000" b="1" spc="-10" dirty="0">
                <a:latin typeface="Times New Roman"/>
                <a:cs typeface="Times New Roman"/>
              </a:rPr>
              <a:t>Internet</a:t>
            </a:r>
            <a:r>
              <a:rPr sz="2000" spc="-10" dirty="0">
                <a:latin typeface="Times New Roman"/>
                <a:cs typeface="Times New Roman"/>
              </a:rPr>
              <a:t>:</a:t>
            </a:r>
            <a:r>
              <a:rPr sz="2000" dirty="0">
                <a:latin typeface="Times New Roman"/>
                <a:cs typeface="Times New Roman"/>
              </a:rPr>
              <a:t>	</a:t>
            </a:r>
            <a:r>
              <a:rPr sz="2000" spc="-10" dirty="0">
                <a:latin typeface="Times New Roman"/>
                <a:cs typeface="Times New Roman"/>
              </a:rPr>
              <a:t>Required</a:t>
            </a:r>
            <a:r>
              <a:rPr sz="2000" dirty="0">
                <a:latin typeface="Times New Roman"/>
                <a:cs typeface="Times New Roman"/>
              </a:rPr>
              <a:t>	</a:t>
            </a:r>
            <a:r>
              <a:rPr sz="2000" spc="-25" dirty="0">
                <a:latin typeface="Times New Roman"/>
                <a:cs typeface="Times New Roman"/>
              </a:rPr>
              <a:t>for</a:t>
            </a:r>
            <a:r>
              <a:rPr sz="2000" dirty="0">
                <a:latin typeface="Times New Roman"/>
                <a:cs typeface="Times New Roman"/>
              </a:rPr>
              <a:t>	</a:t>
            </a:r>
            <a:r>
              <a:rPr sz="2000" spc="-10" dirty="0">
                <a:latin typeface="Times New Roman"/>
                <a:cs typeface="Times New Roman"/>
              </a:rPr>
              <a:t>dataset</a:t>
            </a:r>
            <a:r>
              <a:rPr sz="2000" dirty="0">
                <a:latin typeface="Times New Roman"/>
                <a:cs typeface="Times New Roman"/>
              </a:rPr>
              <a:t>	</a:t>
            </a:r>
            <a:r>
              <a:rPr sz="2000" spc="-10" dirty="0">
                <a:latin typeface="Times New Roman"/>
                <a:cs typeface="Times New Roman"/>
              </a:rPr>
              <a:t>download, </a:t>
            </a:r>
            <a:r>
              <a:rPr sz="2000" dirty="0">
                <a:latin typeface="Times New Roman"/>
                <a:cs typeface="Times New Roman"/>
              </a:rPr>
              <a:t>hosting,</a:t>
            </a:r>
            <a:r>
              <a:rPr sz="2000" spc="-40" dirty="0">
                <a:latin typeface="Times New Roman"/>
                <a:cs typeface="Times New Roman"/>
              </a:rPr>
              <a:t> </a:t>
            </a:r>
            <a:r>
              <a:rPr sz="2000" dirty="0">
                <a:latin typeface="Times New Roman"/>
                <a:cs typeface="Times New Roman"/>
              </a:rPr>
              <a:t>and </a:t>
            </a:r>
            <a:r>
              <a:rPr sz="2000" spc="-10" dirty="0">
                <a:latin typeface="Times New Roman"/>
                <a:cs typeface="Times New Roman"/>
              </a:rPr>
              <a:t>updates</a:t>
            </a:r>
            <a:r>
              <a:rPr lang="en-US" sz="2000" spc="-10" dirty="0">
                <a:latin typeface="Times New Roman"/>
                <a:cs typeface="Times New Roman"/>
              </a:rPr>
              <a:t>.</a:t>
            </a:r>
            <a:endParaRPr sz="20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321360" y="147319"/>
            <a:ext cx="11550650" cy="258404"/>
          </a:xfrm>
          <a:prstGeom prst="rect">
            <a:avLst/>
          </a:prstGeom>
        </p:spPr>
        <p:txBody>
          <a:bodyPr vert="horz" wrap="square" lIns="0" tIns="12065" rIns="0" bIns="0" rtlCol="0">
            <a:spAutoFit/>
          </a:bodyPr>
          <a:lstStyle/>
          <a:p>
            <a:pPr marL="12700">
              <a:lnSpc>
                <a:spcPct val="100000"/>
              </a:lnSpc>
              <a:spcBef>
                <a:spcPts val="95"/>
              </a:spcBef>
              <a:tabLst>
                <a:tab pos="10427335" algn="l"/>
              </a:tabLst>
            </a:pPr>
            <a:r>
              <a:rPr sz="1600" dirty="0">
                <a:latin typeface="Times New Roman"/>
                <a:cs typeface="Times New Roman"/>
              </a:rPr>
              <a:t>Batch</a:t>
            </a:r>
            <a:r>
              <a:rPr sz="1600" spc="-30" dirty="0">
                <a:latin typeface="Times New Roman"/>
                <a:cs typeface="Times New Roman"/>
              </a:rPr>
              <a:t> </a:t>
            </a:r>
            <a:r>
              <a:rPr sz="1600" spc="-10" dirty="0">
                <a:latin typeface="Times New Roman"/>
                <a:cs typeface="Times New Roman"/>
              </a:rPr>
              <a:t>No:</a:t>
            </a:r>
            <a:r>
              <a:rPr lang="en-US" sz="1600" spc="-10" dirty="0">
                <a:latin typeface="Times New Roman"/>
                <a:cs typeface="Times New Roman"/>
              </a:rPr>
              <a:t>2026B03                                                                                                                                                                                “</a:t>
            </a:r>
            <a:r>
              <a:rPr lang="en-US" sz="1600" spc="-10" dirty="0" err="1">
                <a:latin typeface="Times New Roman"/>
                <a:cs typeface="Times New Roman"/>
              </a:rPr>
              <a:t>AquaPredict</a:t>
            </a:r>
            <a:r>
              <a:rPr lang="en-US" sz="1600" spc="-10" dirty="0">
                <a:latin typeface="Times New Roman"/>
                <a:cs typeface="Times New Roman"/>
              </a:rPr>
              <a:t>”</a:t>
            </a:r>
            <a:endParaRPr sz="1600" dirty="0">
              <a:latin typeface="Times New Roman"/>
              <a:cs typeface="Times New Roman"/>
            </a:endParaRPr>
          </a:p>
        </p:txBody>
      </p:sp>
      <p:sp>
        <p:nvSpPr>
          <p:cNvPr id="2" name="object 2" descr="$PPTXTitle"/>
          <p:cNvSpPr txBox="1">
            <a:spLocks noGrp="1"/>
          </p:cNvSpPr>
          <p:nvPr>
            <p:ph type="title"/>
          </p:nvPr>
        </p:nvSpPr>
        <p:spPr>
          <a:xfrm>
            <a:off x="4343400" y="620263"/>
            <a:ext cx="2552700" cy="574040"/>
          </a:xfrm>
          <a:prstGeom prst="rect">
            <a:avLst/>
          </a:prstGeom>
        </p:spPr>
        <p:txBody>
          <a:bodyPr vert="horz" wrap="square" lIns="0" tIns="12700" rIns="0" bIns="0" rtlCol="0">
            <a:spAutoFit/>
          </a:bodyPr>
          <a:lstStyle/>
          <a:p>
            <a:pPr marL="12700">
              <a:lnSpc>
                <a:spcPct val="100000"/>
              </a:lnSpc>
              <a:spcBef>
                <a:spcPts val="100"/>
              </a:spcBef>
            </a:pPr>
            <a:r>
              <a:rPr spc="-10" dirty="0"/>
              <a:t>6.Conclusion</a:t>
            </a:r>
          </a:p>
        </p:txBody>
      </p:sp>
      <p:sp>
        <p:nvSpPr>
          <p:cNvPr id="3" name="object 3"/>
          <p:cNvSpPr txBox="1"/>
          <p:nvPr/>
        </p:nvSpPr>
        <p:spPr>
          <a:xfrm>
            <a:off x="1030605" y="1295400"/>
            <a:ext cx="10130790" cy="4016484"/>
          </a:xfrm>
          <a:prstGeom prst="rect">
            <a:avLst/>
          </a:prstGeom>
        </p:spPr>
        <p:txBody>
          <a:bodyPr vert="horz" wrap="square" lIns="0" tIns="91440" rIns="0" bIns="0" rtlCol="0">
            <a:spAutoFit/>
          </a:bodyPr>
          <a:lstStyle/>
          <a:p>
            <a:pPr marL="12700">
              <a:lnSpc>
                <a:spcPct val="100000"/>
              </a:lnSpc>
              <a:spcBef>
                <a:spcPts val="720"/>
              </a:spcBef>
              <a:tabLst>
                <a:tab pos="163830" algn="l"/>
              </a:tabLst>
            </a:pPr>
            <a:endParaRPr lang="en-US" sz="2000" dirty="0">
              <a:latin typeface="Times New Roman"/>
              <a:cs typeface="Times New Roman"/>
            </a:endParaRPr>
          </a:p>
          <a:p>
            <a:pPr marL="163830" indent="-151130">
              <a:lnSpc>
                <a:spcPct val="100000"/>
              </a:lnSpc>
              <a:spcBef>
                <a:spcPts val="720"/>
              </a:spcBef>
              <a:buFont typeface="Arial MT"/>
              <a:buChar char="•"/>
              <a:tabLst>
                <a:tab pos="163830" algn="l"/>
              </a:tabLst>
            </a:pPr>
            <a:r>
              <a:rPr lang="en-US" sz="2000" dirty="0">
                <a:latin typeface="Times New Roman"/>
                <a:cs typeface="Times New Roman"/>
              </a:rPr>
              <a:t>The system provides an integrated AI-based approach for proactive urban water demand and leakage management.</a:t>
            </a:r>
          </a:p>
          <a:p>
            <a:pPr marL="163830" indent="-151130">
              <a:lnSpc>
                <a:spcPct val="100000"/>
              </a:lnSpc>
              <a:spcBef>
                <a:spcPts val="720"/>
              </a:spcBef>
              <a:buFont typeface="Arial MT"/>
              <a:buChar char="•"/>
              <a:tabLst>
                <a:tab pos="163830" algn="l"/>
              </a:tabLst>
            </a:pPr>
            <a:r>
              <a:rPr lang="en-US" sz="2000" dirty="0">
                <a:latin typeface="Times New Roman"/>
                <a:cs typeface="Times New Roman"/>
              </a:rPr>
              <a:t>LSTM-based forecasting accurately predicts water demand and peak-demand periods.</a:t>
            </a:r>
          </a:p>
          <a:p>
            <a:pPr marL="163830" indent="-151130">
              <a:lnSpc>
                <a:spcPct val="100000"/>
              </a:lnSpc>
              <a:spcBef>
                <a:spcPts val="720"/>
              </a:spcBef>
              <a:buFont typeface="Arial MT"/>
              <a:buChar char="•"/>
              <a:tabLst>
                <a:tab pos="163830" algn="l"/>
              </a:tabLst>
            </a:pPr>
            <a:r>
              <a:rPr lang="en-US" sz="2000" dirty="0">
                <a:latin typeface="Times New Roman"/>
                <a:cs typeface="Times New Roman"/>
              </a:rPr>
              <a:t>Anomaly detection identifies pipeline leakages and estimates their probability and severity.</a:t>
            </a:r>
          </a:p>
          <a:p>
            <a:pPr marL="163830" indent="-151130" algn="just">
              <a:lnSpc>
                <a:spcPct val="100000"/>
              </a:lnSpc>
              <a:spcBef>
                <a:spcPts val="720"/>
              </a:spcBef>
              <a:buFont typeface="Arial MT"/>
              <a:buChar char="•"/>
              <a:tabLst>
                <a:tab pos="163830" algn="l"/>
              </a:tabLst>
            </a:pPr>
            <a:r>
              <a:rPr lang="en-US" sz="2000" dirty="0">
                <a:latin typeface="Times New Roman"/>
                <a:cs typeface="Times New Roman"/>
              </a:rPr>
              <a:t>GIS-based visualization and zone-wise risk dashboards support comparison of demand, leakage risk, and water loss across areas.</a:t>
            </a:r>
          </a:p>
          <a:p>
            <a:pPr marL="163830" indent="-151130">
              <a:lnSpc>
                <a:spcPct val="100000"/>
              </a:lnSpc>
              <a:spcBef>
                <a:spcPts val="720"/>
              </a:spcBef>
              <a:buFont typeface="Arial MT"/>
              <a:buChar char="•"/>
              <a:tabLst>
                <a:tab pos="163830" algn="l"/>
              </a:tabLst>
            </a:pPr>
            <a:r>
              <a:rPr lang="en-US" sz="2000" dirty="0">
                <a:latin typeface="Times New Roman"/>
                <a:cs typeface="Times New Roman"/>
              </a:rPr>
              <a:t>The interactive dashboard improves transparency and enables faster, data-driven decision-making.</a:t>
            </a:r>
          </a:p>
          <a:p>
            <a:pPr marL="163830" indent="-151130">
              <a:lnSpc>
                <a:spcPct val="100000"/>
              </a:lnSpc>
              <a:spcBef>
                <a:spcPts val="720"/>
              </a:spcBef>
              <a:buFont typeface="Arial MT"/>
              <a:buChar char="•"/>
              <a:tabLst>
                <a:tab pos="163830" algn="l"/>
              </a:tabLst>
            </a:pPr>
            <a:r>
              <a:rPr lang="en-US" sz="2000" dirty="0">
                <a:latin typeface="Times New Roman"/>
                <a:cs typeface="Times New Roman"/>
              </a:rPr>
              <a:t>The system reduces water loss, improves distribution efficiency, and offers a scalable solution for smart and sustainable urban water management.</a:t>
            </a:r>
            <a:endParaRPr sz="20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00024" y="147319"/>
            <a:ext cx="2824176" cy="258404"/>
          </a:xfrm>
          <a:prstGeom prst="rect">
            <a:avLst/>
          </a:prstGeom>
        </p:spPr>
        <p:txBody>
          <a:bodyPr vert="horz" wrap="square" lIns="0" tIns="12065" rIns="0" bIns="0" rtlCol="0">
            <a:spAutoFit/>
          </a:bodyPr>
          <a:lstStyle/>
          <a:p>
            <a:pPr marL="12700">
              <a:lnSpc>
                <a:spcPct val="100000"/>
              </a:lnSpc>
              <a:spcBef>
                <a:spcPts val="95"/>
              </a:spcBef>
            </a:pPr>
            <a:r>
              <a:rPr sz="1600" dirty="0">
                <a:latin typeface="Times New Roman"/>
                <a:cs typeface="Times New Roman"/>
              </a:rPr>
              <a:t>Batch</a:t>
            </a:r>
            <a:r>
              <a:rPr sz="1600" spc="-15" dirty="0">
                <a:latin typeface="Times New Roman"/>
                <a:cs typeface="Times New Roman"/>
              </a:rPr>
              <a:t> </a:t>
            </a:r>
            <a:r>
              <a:rPr sz="1600" dirty="0">
                <a:latin typeface="Times New Roman"/>
                <a:cs typeface="Times New Roman"/>
              </a:rPr>
              <a:t>No</a:t>
            </a:r>
            <a:r>
              <a:rPr lang="en-US" sz="1600" dirty="0">
                <a:latin typeface="Times New Roman"/>
                <a:cs typeface="Times New Roman"/>
              </a:rPr>
              <a:t>:2026B03</a:t>
            </a:r>
            <a:endParaRPr sz="1600" dirty="0">
              <a:latin typeface="Times New Roman"/>
              <a:cs typeface="Times New Roman"/>
            </a:endParaRPr>
          </a:p>
        </p:txBody>
      </p:sp>
      <p:sp>
        <p:nvSpPr>
          <p:cNvPr id="4" name="object 4"/>
          <p:cNvSpPr txBox="1"/>
          <p:nvPr/>
        </p:nvSpPr>
        <p:spPr>
          <a:xfrm>
            <a:off x="9980881" y="147319"/>
            <a:ext cx="1911095" cy="258404"/>
          </a:xfrm>
          <a:prstGeom prst="rect">
            <a:avLst/>
          </a:prstGeom>
        </p:spPr>
        <p:txBody>
          <a:bodyPr vert="horz" wrap="square" lIns="0" tIns="12065" rIns="0" bIns="0" rtlCol="0">
            <a:spAutoFit/>
          </a:bodyPr>
          <a:lstStyle/>
          <a:p>
            <a:pPr marL="12700">
              <a:lnSpc>
                <a:spcPct val="100000"/>
              </a:lnSpc>
              <a:spcBef>
                <a:spcPts val="95"/>
              </a:spcBef>
            </a:pPr>
            <a:r>
              <a:rPr lang="en-US" sz="1600" dirty="0">
                <a:latin typeface="Times New Roman"/>
                <a:cs typeface="Times New Roman"/>
              </a:rPr>
              <a:t>             </a:t>
            </a:r>
            <a:r>
              <a:rPr sz="1600" dirty="0">
                <a:latin typeface="Times New Roman"/>
                <a:cs typeface="Times New Roman"/>
              </a:rPr>
              <a:t>"</a:t>
            </a:r>
            <a:r>
              <a:rPr lang="en-US" sz="1600" dirty="0" err="1">
                <a:latin typeface="Times New Roman"/>
                <a:cs typeface="Times New Roman"/>
              </a:rPr>
              <a:t>AquaPredict</a:t>
            </a:r>
            <a:r>
              <a:rPr sz="1600" spc="-10" dirty="0">
                <a:latin typeface="Times New Roman"/>
                <a:cs typeface="Times New Roman"/>
              </a:rPr>
              <a:t>"</a:t>
            </a:r>
            <a:endParaRPr sz="1600" dirty="0">
              <a:latin typeface="Times New Roman"/>
              <a:cs typeface="Times New Roman"/>
            </a:endParaRPr>
          </a:p>
        </p:txBody>
      </p:sp>
      <p:sp>
        <p:nvSpPr>
          <p:cNvPr id="2" name="object 2" descr="$PPTXTitle"/>
          <p:cNvSpPr txBox="1">
            <a:spLocks noGrp="1"/>
          </p:cNvSpPr>
          <p:nvPr>
            <p:ph type="title"/>
          </p:nvPr>
        </p:nvSpPr>
        <p:spPr>
          <a:xfrm>
            <a:off x="4885435" y="2291918"/>
            <a:ext cx="3285490" cy="635000"/>
          </a:xfrm>
          <a:prstGeom prst="rect">
            <a:avLst/>
          </a:prstGeom>
        </p:spPr>
        <p:txBody>
          <a:bodyPr vert="horz" wrap="square" lIns="0" tIns="12065" rIns="0" bIns="0" rtlCol="0">
            <a:spAutoFit/>
          </a:bodyPr>
          <a:lstStyle/>
          <a:p>
            <a:pPr marL="12700">
              <a:lnSpc>
                <a:spcPct val="100000"/>
              </a:lnSpc>
              <a:spcBef>
                <a:spcPts val="95"/>
              </a:spcBef>
            </a:pPr>
            <a:r>
              <a:rPr sz="4000" b="0" dirty="0">
                <a:solidFill>
                  <a:srgbClr val="000000"/>
                </a:solidFill>
                <a:latin typeface="Times New Roman"/>
                <a:cs typeface="Times New Roman"/>
              </a:rPr>
              <a:t>Any</a:t>
            </a:r>
            <a:r>
              <a:rPr sz="4000" b="0" spc="-75" dirty="0">
                <a:solidFill>
                  <a:srgbClr val="000000"/>
                </a:solidFill>
                <a:latin typeface="Times New Roman"/>
                <a:cs typeface="Times New Roman"/>
              </a:rPr>
              <a:t> </a:t>
            </a:r>
            <a:r>
              <a:rPr sz="4000" b="0" spc="-10" dirty="0">
                <a:solidFill>
                  <a:srgbClr val="000000"/>
                </a:solidFill>
                <a:latin typeface="Times New Roman"/>
                <a:cs typeface="Times New Roman"/>
              </a:rPr>
              <a:t>Questions?</a:t>
            </a:r>
            <a:endParaRPr sz="40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00024" y="147319"/>
            <a:ext cx="2443176" cy="258404"/>
          </a:xfrm>
          <a:prstGeom prst="rect">
            <a:avLst/>
          </a:prstGeom>
        </p:spPr>
        <p:txBody>
          <a:bodyPr vert="horz" wrap="square" lIns="0" tIns="12065" rIns="0" bIns="0" rtlCol="0">
            <a:spAutoFit/>
          </a:bodyPr>
          <a:lstStyle/>
          <a:p>
            <a:pPr marL="12700">
              <a:lnSpc>
                <a:spcPct val="100000"/>
              </a:lnSpc>
              <a:spcBef>
                <a:spcPts val="95"/>
              </a:spcBef>
            </a:pPr>
            <a:r>
              <a:rPr sz="1600" dirty="0">
                <a:latin typeface="Times New Roman"/>
                <a:cs typeface="Times New Roman"/>
              </a:rPr>
              <a:t>Batch</a:t>
            </a:r>
            <a:r>
              <a:rPr sz="1600" spc="-15" dirty="0">
                <a:latin typeface="Times New Roman"/>
                <a:cs typeface="Times New Roman"/>
              </a:rPr>
              <a:t> </a:t>
            </a:r>
            <a:r>
              <a:rPr sz="1600" dirty="0">
                <a:latin typeface="Times New Roman"/>
                <a:cs typeface="Times New Roman"/>
              </a:rPr>
              <a:t>No</a:t>
            </a:r>
            <a:r>
              <a:rPr lang="en-US" sz="1600" dirty="0">
                <a:latin typeface="Times New Roman"/>
                <a:cs typeface="Times New Roman"/>
              </a:rPr>
              <a:t>:2026B03</a:t>
            </a:r>
            <a:endParaRPr sz="1600" dirty="0">
              <a:latin typeface="Times New Roman"/>
              <a:cs typeface="Times New Roman"/>
            </a:endParaRPr>
          </a:p>
        </p:txBody>
      </p:sp>
      <p:sp>
        <p:nvSpPr>
          <p:cNvPr id="4" name="object 4"/>
          <p:cNvSpPr txBox="1"/>
          <p:nvPr/>
        </p:nvSpPr>
        <p:spPr>
          <a:xfrm>
            <a:off x="10151674" y="147319"/>
            <a:ext cx="1758695" cy="258404"/>
          </a:xfrm>
          <a:prstGeom prst="rect">
            <a:avLst/>
          </a:prstGeom>
        </p:spPr>
        <p:txBody>
          <a:bodyPr vert="horz" wrap="square" lIns="0" tIns="12065" rIns="0" bIns="0" rtlCol="0">
            <a:spAutoFit/>
          </a:bodyPr>
          <a:lstStyle/>
          <a:p>
            <a:pPr marL="12700">
              <a:lnSpc>
                <a:spcPct val="100000"/>
              </a:lnSpc>
              <a:spcBef>
                <a:spcPts val="95"/>
              </a:spcBef>
            </a:pPr>
            <a:r>
              <a:rPr lang="en-US" sz="1600" dirty="0">
                <a:latin typeface="Times New Roman"/>
                <a:cs typeface="Times New Roman"/>
              </a:rPr>
              <a:t>        </a:t>
            </a:r>
            <a:r>
              <a:rPr sz="1600" dirty="0">
                <a:latin typeface="Times New Roman"/>
                <a:cs typeface="Times New Roman"/>
              </a:rPr>
              <a:t>"</a:t>
            </a:r>
            <a:r>
              <a:rPr lang="en-US" sz="1600" dirty="0" err="1">
                <a:latin typeface="Times New Roman"/>
                <a:cs typeface="Times New Roman"/>
              </a:rPr>
              <a:t>AquaPredict</a:t>
            </a:r>
            <a:r>
              <a:rPr sz="1600" spc="-10" dirty="0">
                <a:latin typeface="Times New Roman"/>
                <a:cs typeface="Times New Roman"/>
              </a:rPr>
              <a:t>"</a:t>
            </a:r>
            <a:endParaRPr sz="1600" dirty="0">
              <a:latin typeface="Times New Roman"/>
              <a:cs typeface="Times New Roman"/>
            </a:endParaRPr>
          </a:p>
        </p:txBody>
      </p:sp>
      <p:sp>
        <p:nvSpPr>
          <p:cNvPr id="2" name="object 2" descr="$PPTXTitle"/>
          <p:cNvSpPr txBox="1">
            <a:spLocks noGrp="1"/>
          </p:cNvSpPr>
          <p:nvPr>
            <p:ph type="title"/>
          </p:nvPr>
        </p:nvSpPr>
        <p:spPr>
          <a:xfrm>
            <a:off x="4912614" y="2736595"/>
            <a:ext cx="3009900" cy="635000"/>
          </a:xfrm>
          <a:prstGeom prst="rect">
            <a:avLst/>
          </a:prstGeom>
        </p:spPr>
        <p:txBody>
          <a:bodyPr vert="horz" wrap="square" lIns="0" tIns="12065" rIns="0" bIns="0" rtlCol="0">
            <a:spAutoFit/>
          </a:bodyPr>
          <a:lstStyle/>
          <a:p>
            <a:pPr marL="12700">
              <a:lnSpc>
                <a:spcPct val="100000"/>
              </a:lnSpc>
              <a:spcBef>
                <a:spcPts val="95"/>
              </a:spcBef>
            </a:pPr>
            <a:r>
              <a:rPr sz="4000" b="0" dirty="0">
                <a:solidFill>
                  <a:srgbClr val="000000"/>
                </a:solidFill>
                <a:latin typeface="Times New Roman"/>
                <a:cs typeface="Times New Roman"/>
              </a:rPr>
              <a:t>THANK</a:t>
            </a:r>
            <a:r>
              <a:rPr sz="4000" b="0" spc="-220" dirty="0">
                <a:solidFill>
                  <a:srgbClr val="000000"/>
                </a:solidFill>
                <a:latin typeface="Times New Roman"/>
                <a:cs typeface="Times New Roman"/>
              </a:rPr>
              <a:t> </a:t>
            </a:r>
            <a:r>
              <a:rPr sz="4000" b="0" spc="-25" dirty="0">
                <a:solidFill>
                  <a:srgbClr val="000000"/>
                </a:solidFill>
                <a:latin typeface="Times New Roman"/>
                <a:cs typeface="Times New Roman"/>
              </a:rPr>
              <a:t>YOU</a:t>
            </a:r>
            <a:endParaRPr sz="40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11</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158</TotalTime>
  <Words>1123</Words>
  <Application>Microsoft Office PowerPoint</Application>
  <PresentationFormat>Widescreen</PresentationFormat>
  <Paragraphs>159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Arial MT</vt:lpstr>
      <vt:lpstr>Calibri</vt:lpstr>
      <vt:lpstr>Times New Roman</vt:lpstr>
      <vt:lpstr>Office Theme</vt:lpstr>
      <vt:lpstr>KESHAV MEMORIAL ENGINEERING COLLEGE</vt:lpstr>
      <vt:lpstr>Index</vt:lpstr>
      <vt:lpstr>Abstract</vt:lpstr>
      <vt:lpstr>1. Introduction</vt:lpstr>
      <vt:lpstr>2. Literature Survey</vt:lpstr>
      <vt:lpstr>3. Problem Statement</vt:lpstr>
      <vt:lpstr>4. Methodology</vt:lpstr>
      <vt:lpstr>5. Software Requirements</vt:lpstr>
      <vt:lpstr>6.Conclusion</vt:lpstr>
      <vt:lpstr>Any 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KIRAN KUMAR EKKALURI</dc:creator>
  <cp:lastModifiedBy>MEENUSREE VANAPARTHI</cp:lastModifiedBy>
  <cp:revision>1</cp:revision>
  <dcterms:created xsi:type="dcterms:W3CDTF">2026-09-26T04:30:28Z</dcterms:created>
  <dcterms:modified xsi:type="dcterms:W3CDTF">2026-09-26T07:10:37Z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2026-03-29T00:00:00Z</vt:filetime>
  </property>
  <property fmtid="{D5CDD505-2E9C-101B-9397-08002B2CF9AE}" pid="4" name="Creator">
    <vt:lpwstr>Microsoft® PowerPoint® 2021</vt:lpwstr>
  </property>
  <property fmtid="{D5CDD505-2E9C-101B-9397-08002B2CF9AE}" pid="5" name="LastSaved">
    <vt:filetime>2026-09-26T00:00:00Z</vt:filetime>
  </property>
  <property fmtid="{D5CDD505-2E9C-101B-9397-08002B2CF9AE}" pid="6" name="Producer">
    <vt:lpwstr>Microsoft® PowerPoint® 2021</vt:lpwstr>
  </property>
</Properties>
</file>